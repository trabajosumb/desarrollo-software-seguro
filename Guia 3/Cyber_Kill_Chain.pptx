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7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641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9552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8547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9458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8453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9364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8359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9270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265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917692" y="5074920"/>
            <a:ext cx="890016" cy="0"/>
          </a:xfrm>
          <a:prstGeom prst="line">
            <a:avLst/>
          </a:prstGeom>
          <a:noFill/>
          <a:ln w="9525">
            <a:solidFill>
              <a:srgbClr val="C8D9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8171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07708" y="5024628"/>
            <a:ext cx="100584" cy="100584"/>
          </a:xfrm>
          <a:prstGeom prst="ellipse">
            <a:avLst/>
          </a:prstGeom>
          <a:solidFill>
            <a:srgbClr val="C8D9EB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METHODOLOGY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Kill Chain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anatomy of a cyberattack, one link at a time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Manuela Beltrán   </a:t>
            </a:r>
            <a:r>
              <a:rPr lang="en-US" sz="1200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Secure Software Development   |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threat modeling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discipline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013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identifies, analyzes, and mitigates risk in a system before it ships — not after an incident.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Shifting security left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2186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a flaw is found, the cheaper it is to fix. Threat modeling moves that discovery to the design stage.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roads, same goal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63600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STRIDE, PASTA, VAST, Attack Trees, MITRE ATT&amp;CK, and the Kill Chain are different lenses on the same question: how could this be attacked?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Cyber Kill Chain?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Lockheed Martin in 2011, borrowing the military concept of a “kill chain” — the sequence of steps needed to identify, engage, and destroy a target.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cyberattack as a sequential chain of phases an adversary must complete, in order, to reach their goal.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 don't need to stop every phase — breaking a single link anywhere in the chain defeats the entire attack.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41732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680960" y="1874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6809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3611880"/>
            <a:ext cx="2377440" cy="0"/>
          </a:xfrm>
          <a:prstGeom prst="line">
            <a:avLst/>
          </a:prstGeom>
          <a:noFill/>
          <a:ln w="9525">
            <a:solidFill>
              <a:srgbClr val="C8D9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955280" y="3886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“Break one link,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attack.”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phases — attack build-up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623060" y="19202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6230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intel on the target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4408" y="2240280"/>
            <a:ext cx="192024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57700" y="19202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4577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malicious payload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9048" y="2240280"/>
            <a:ext cx="192024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292340" y="19202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2923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5204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the weapon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33688" y="2240280"/>
            <a:ext cx="192024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144000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0126980" y="19202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1269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81160" y="35204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 malicious code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1–4 set up the attack — before the target even notices.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phases — objective achieved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200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1920240"/>
            <a:ext cx="640080" cy="640080"/>
          </a:xfrm>
          <a:prstGeom prst="ellipse">
            <a:avLst/>
          </a:prstGeom>
          <a:solidFill>
            <a:srgbClr val="8C1D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103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 persistent foothold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41648" y="2240280"/>
            <a:ext cx="283464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200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623560" y="1920240"/>
            <a:ext cx="640080" cy="640080"/>
          </a:xfrm>
          <a:prstGeom prst="ellipse">
            <a:avLst/>
          </a:prstGeom>
          <a:solidFill>
            <a:srgbClr val="8C1D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23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&amp; 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remote channel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62088" y="2240280"/>
            <a:ext cx="283464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863840" y="1600200"/>
            <a:ext cx="3200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640080" cy="640080"/>
          </a:xfrm>
          <a:prstGeom prst="ellipse">
            <a:avLst/>
          </a:prstGeom>
          <a:solidFill>
            <a:srgbClr val="8C1D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144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on Objectives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the attacker's goal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is where business impact actually happens — everything before it was preparation.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Kill Chain compares to other methodologies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threat types (Spoofing, Tampering, Repudiation, Info. Disclosure, DoS, Elevation of Privilege)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Risk-centric attack simulation aligned to business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 scaled across agile teams and the whole 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Decomposes an attacker's goal into a branching tree of sub-goals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ATT&amp;CK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Exhaustive, non-linear matrix of real-world adversary tactics &amp; techniques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C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C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Linear, sequential progression of an attack — break any link, stop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the Kill 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intrusions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APT campaigns and malware-driven attacks that genuinely follow a staged progression.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suggests where to place a control — mail filtering at Delivery, EDR at Installation, egress monitoring at C2.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&amp; threat intel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 real incident against the model to see which phase was detected — or should have been.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Threat Modeling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 — the Target Corp. breach (2013)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stole network credentials from a third-party HVAC vendor with remote access to Target's systems, then rode that foothold onto the corporate network and, eventually, the point-of-sale (POS) systems in thousands of stores.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is one of the most cited illustrations of a full Kill Chain progression — from a trusted third party to a nationwide data breach.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55448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0" y="166420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961120" y="16642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numbers stolen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297180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406640" y="30815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961120" y="30815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exposed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23760" y="438912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406640" y="449884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961120" y="449884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undetected exfiltration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Practical Example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Chain applied to the Target breach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160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Attackers profiled Target's vendors and identified Fazio Mechanical, an HVAC contractor with network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variant of the Citadel banking trojan was prepared to steal the vendor's login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trojan reached Fazio via a phishing email, undetected by the vendor's free antivirus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/ Installation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 vendor credentials were used to pivot into Target's network; BlackPOS malware was installed on point-of-sale terminals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Compromised POS systems relayed captured card data to an internal staging server, then out to attacker 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on Objectives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million card numbers and 70 million customer records exfiltrated over about three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Practical Example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detection across the chain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47548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attacker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detection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Shodan, theHarvester, OSINT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external scans, monitor public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Metasploit, msfvenom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happens outside the target's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kits (Gophish), infected 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gateway filtering, endpoint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CVEs, malicious macros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management, application sandboxing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Cobalt Strike, Empire, rootkits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EDR, integrity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Beacons, DNS tunneling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Network/DNS monitoring, egress 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on Objectives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Exfiltration scripts, ransomware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DLP, anomaly detection, backups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Practical Example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 — applying Kill Chain to Sistema IRIS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IRIS is an internal web application built for EPSI HL, a Colombian company. It manages delivery/service records (remisiones), client data, and user administration, deployed on Google Cloud Run at iris.epsihl.com.co.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TypeScript + Vite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30175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401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17220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3401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Google Cloud 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32520" y="30175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86968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3401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phase by phase, how an attacker could realistically compromise IRIS — grounded in weaknesses already found in the codebase (plaintext password storage, missing audit trail, a race condition in document numbering).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Applied to Sistema IRIS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Chain phases applied to Sistema IRIS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75720" cy="48280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scenario on IRIS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GitHub repo (Vick2012/EPSI-HL) exposes the full architecture and endpoints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Privatize the repo; scrub the commit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Weaponiz.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Spear-phishing email spoofing iris.epsihl.com.co built against an admin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 / DKIM / DMARC on the corporate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email lands in an administrator's inbox; brute-force script targets 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gateway filtering; rate-limiting + CAPTCHA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submits credentials on the fake page; plaintext visible_password field is read directly from the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for admins; salted bcrypt/argon2 hashing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hidden admin account is created; hard deletes erase any trace of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deletes with audit trail; alert on new admin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keeps access simply by reusing the stolen session — no malware needed on a public web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Anomalous-login monitoring; least-privilege IAM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Exfiltrates client/billing data; exploits the numbering race condition to forge remisiones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rest; atomic Postgres sequence; backups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Applied to Sistema IRIS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evaluation and mitigation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risks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8C1D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 theft via spear-phishing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8C1D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password storage in the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9352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exposing system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34655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Undetectable persistence (no soft-delete, no audit log)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9592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39959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in remision numbering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0" cy="429768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actions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1929384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58368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and salted password hashing (bcrypt/argon2)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249631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583680" y="2368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Privatize the GitHub repo; move secrets to Secret Manager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06324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583680" y="29352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MAX()+1 with an atomic Postgres sequence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3630168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583680" y="3502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soft deletes with immutable audit logging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197096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failed logins and anomalous access patterns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4764024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583680" y="4636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anti-phishing awareness training for admin staff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· Applied to Sistema IRIS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23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3100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9257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8434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4591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3768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9925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9102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5259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04436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1059363" y="640080"/>
            <a:ext cx="451104" cy="0"/>
          </a:xfrm>
          <a:prstGeom prst="line">
            <a:avLst/>
          </a:prstGeom>
          <a:noFill/>
          <a:ln w="9525">
            <a:solidFill>
              <a:srgbClr val="C8D9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09770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510467" y="598932"/>
            <a:ext cx="82296" cy="82296"/>
          </a:xfrm>
          <a:prstGeom prst="ellipse">
            <a:avLst/>
          </a:prstGeom>
          <a:solidFill>
            <a:srgbClr val="C8D9EB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440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one link.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440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chain.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Chain doesn't ask defenders to be perfect at every phase — only effective at one. That's what makes it a practical guide for prioritizing security investment, from Sistema IRIS to any system in production.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6309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Manuela Beltrán  ·  Secure Software Development.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1345</Words>
  <Application>Microsoft Office PowerPoint</Application>
  <PresentationFormat>Panorámica</PresentationFormat>
  <Paragraphs>225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Santiago Rodriguez Angel</cp:lastModifiedBy>
  <cp:revision>2</cp:revision>
  <dcterms:created xsi:type="dcterms:W3CDTF">2026-08-26T19:54:35Z</dcterms:created>
  <dcterms:modified xsi:type="dcterms:W3CDTF">2026-08-28T23:19:00Z</dcterms:modified>
</cp:coreProperties>
</file>