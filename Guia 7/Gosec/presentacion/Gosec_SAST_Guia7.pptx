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Hallazgos</c:v>
                </c:pt>
              </c:strCache>
            </c:strRef>
          </c:tx>
          <c:dPt>
            <c:idx val="0"/>
            <c:spPr>
              <a:solidFill>
                <a:srgbClr val="8C2A1C"/>
              </a:solidFill>
            </c:spPr>
          </c:dPt>
          <c:dPt>
            <c:idx val="1"/>
            <c:spPr>
              <a:solidFill>
                <a:srgbClr val="8A5A00"/>
              </a:solidFill>
            </c:spPr>
          </c:dPt>
          <c:dPt>
            <c:idx val="2"/>
            <c:spPr>
              <a:solidFill>
                <a:srgbClr val="8A5A00"/>
              </a:solidFill>
            </c:spPr>
          </c:dPt>
          <c:dPt>
            <c:idx val="3"/>
            <c:spPr>
              <a:solidFill>
                <a:srgbClr val="8A5A00"/>
              </a:solidFill>
            </c:spPr>
          </c:dPt>
          <c:dPt>
            <c:idx val="4"/>
            <c:spPr>
              <a:solidFill>
                <a:srgbClr val="8A5A00"/>
              </a:solidFill>
            </c:spPr>
          </c:dPt>
          <c:dPt>
            <c:idx val="5"/>
            <c:spPr>
              <a:solidFill>
                <a:srgbClr val="8A5A00"/>
              </a:solidFill>
            </c:spPr>
          </c:dPt>
          <c:dPt>
            <c:idx val="6"/>
            <c:spPr>
              <a:solidFill>
                <a:srgbClr val="8A5A00"/>
              </a:solidFill>
            </c:spPr>
          </c:dPt>
          <c:dPt>
            <c:idx val="7"/>
            <c:spPr>
              <a:solidFill>
                <a:srgbClr val="4A6580"/>
              </a:solidFill>
            </c:spPr>
          </c:dPt>
          <c:dPt>
            <c:idx val="8"/>
            <c:spPr>
              <a:solidFill>
                <a:srgbClr val="4A6580"/>
              </a:solidFill>
            </c:spPr>
          </c:dPt>
          <c:cat>
            <c:strRef>
              <c:f>Sheet1!$A$2:$A$10</c:f>
              <c:strCache>
                <c:ptCount val="9"/>
                <c:pt idx="0">
                  <c:v>G701  Inyección SQL  ·  ALTA</c:v>
                </c:pt>
                <c:pt idx="1">
                  <c:v>G203  HTML sin escapar  ·  MEDIA</c:v>
                </c:pt>
                <c:pt idx="2">
                  <c:v>G401  Criptografía débil  ·  MEDIA</c:v>
                </c:pt>
                <c:pt idx="3">
                  <c:v>G501  Importa crypto/md5  ·  MEDIA</c:v>
                </c:pt>
                <c:pt idx="4">
                  <c:v>G124  Cookie sin banderas  ·  MEDIA</c:v>
                </c:pt>
                <c:pt idx="5">
                  <c:v>G201  SQL con formato  ·  MEDIA</c:v>
                </c:pt>
                <c:pt idx="6">
                  <c:v>G112  Sin ReadHeaderTimeout  ·  MEDIA</c:v>
                </c:pt>
                <c:pt idx="7">
                  <c:v>G706  Inyección en logs  ·  BAJA</c:v>
                </c:pt>
                <c:pt idx="8">
                  <c:v>G104  Error sin manejar  ·  BAJA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6</c:v>
                </c:pt>
                <c:pt idx="2">
                  <c:v>3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11</c:v>
                </c:pt>
                <c:pt idx="8">
                  <c:v>7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 b="1">
                  <a:solidFill>
                    <a:srgbClr val="1F2328"/>
                  </a:solidFill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CD8CF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3D4248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0:30. Presentar el tema: análisis estático de seguridad (SAST) con gosec.</a:t>
            </a:r>
          </a:p>
          <a:p/>
          <a:p>
            <a:r>
              <a:t>Decir: gosec es un escáner de código para Go. Lo probamos sobre GoVWA, una aplicación vulnerable escrita en Go, y sobre código propio. En 10 minutos: qué es, cómo se instaló, tres hallazgos, qué pasa al corregir, lo que NO vio y nuestra experiencia de 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1:00. Explicar qué es.</a:t>
            </a:r>
          </a:p>
          <a:p/>
          <a:p>
            <a:r>
              <a:t>SAST es revisar el código sin ejecutarlo, como revisar los planos de una casa (analogía de la guía de clase). gosec es la herramienta SAST específica de Go: la mantiene el proyecto securego, es de código abierto (Apache 2.0).</a:t>
            </a:r>
          </a:p>
          <a:p/>
          <a:p>
            <a:r>
              <a:t>Dato para decir: según su documentación, analiza el árbol sintáctico (AST) y la representación SSA del programa. En la versión 30 trae 62 reglas, cada una con su CWE, y desde hace poco análisis de flujo de datos: sigue un dato desde la petición del usuario hasta una función peligrosa (reglas G701 a G710).</a:t>
            </a:r>
          </a:p>
          <a:p/>
          <a:p>
            <a:r>
              <a:t>La salida puede ser texto, JSON, HTML, SARIF y otros: sirve para personas y para pipelines de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1:00. Configuración y entorno.</a:t>
            </a:r>
          </a:p>
          <a:p/>
          <a:p>
            <a:r>
              <a:t>Objetivo: GoVWA, una aplicación vulnerable escrita en Go (se fijó el commit 4058f79 para que el análisis sea repetible), y código propio, que la guía también permite.</a:t>
            </a:r>
          </a:p>
          <a:p/>
          <a:p>
            <a:r>
              <a:t>Instalación: un solo comando, go install. Compiló en 1 minuto 50 segundos y deja un binario de 97 MB en la carpeta go\bin del usuario. No hizo falta Docker, ni cuenta, ni permisos de administrador.</a:t>
            </a:r>
          </a:p>
          <a:p/>
          <a:p>
            <a:r>
              <a:t>Detalle práctico: si se instala desde el código fuente, gosec -version responde 'dev'. La versión real se lee con go version -m: es la v2.30.0.</a:t>
            </a:r>
          </a:p>
          <a:p/>
          <a:p>
            <a:r>
              <a:t>Un escaneo completo de GoVWA (20 archivos, 1.569 líneas) tarda unos 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1:00. Resultados globales.</a:t>
            </a:r>
          </a:p>
          <a:p/>
          <a:p>
            <a:r>
              <a:t>Sobre GoVWA gosec reportó 35 hallazgos: 1 de severidad alta, 16 media y 18 baja.</a:t>
            </a:r>
          </a:p>
          <a:p/>
          <a:p>
            <a:r>
              <a:t>Hay dos ejes. Severidad: qué tan grave sería si es real. Confianza: qué tan seguro está gosec de que es un problema. De los 35, 28 tienen confianza alta y 7 baja; los de confianza baja se revisan a mano.</a:t>
            </a:r>
          </a:p>
          <a:p/>
          <a:p>
            <a:r>
              <a:t>El gráfico agrupa por regla. Lo más numeroso es poco grave (inyección en logs y errores sin manejar). Lo más grave es uno solo: la inyección SQL, que veremos primero.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1:15. Hallazgo 1: inyección SQL, el único de severidad ALTA con confianza ALTA.</a:t>
            </a:r>
          </a:p>
          <a:p/>
          <a:p>
            <a:r>
              <a:t>Mostrar el código: la consulta se arma con fmt.Sprintf y el id que llega del usuario; luego se ejecuta con DB.Query. gosec lo reporta dos veces desde dos ángulos: G201 (SQL armado con formato) y G701 (análisis de flujo de datos: el dato del usuario llega hasta Query).</a:t>
            </a:r>
          </a:p>
          <a:p/>
          <a:p>
            <a:r>
              <a:t>Riesgo: el atacante cambia el sentido de la consulta y lee o modifica datos de otros usuarios.</a:t>
            </a:r>
          </a:p>
          <a:p/>
          <a:p>
            <a:r>
              <a:t>Mitigación: consulta parametrizada. Dato interesante: el propio GoVWA trae al lado una función segura, SafeQueryGetData, con DB.Prepare y un signo de interrogación. gosec NO la marcó: sirve como control de que no inventa hallazgos aquí.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1:00. Hallazgo 2: contraseñas con MD5.</a:t>
            </a:r>
          </a:p>
          <a:p/>
          <a:p>
            <a:r>
              <a:t>En user.go, línea 88, el inicio de sesión calcula MD5 de la contraseña y la compara con lo guardado. gosec lo reporta con dos reglas: G401, que detecta el uso de MD5 en el código, y G501, que detecta el import de crypto/md5. Es la misma debilidad repetida en tres archivos (user.go, idor.go y csa.go), por eso salen 6 hallazgos.</a:t>
            </a:r>
          </a:p>
          <a:p/>
          <a:p>
            <a:r>
              <a:t>Riesgo: MD5 se calcula en nanosegundos y aquí no hay sal; si se filtra la base, las contraseñas comunes se recuperan casi al instante.</a:t>
            </a:r>
          </a:p>
          <a:p/>
          <a:p>
            <a:r>
              <a:t>Mitigación: bcrypt o argon2id. Esa es la corrección que aplicamos en nuestro código propio.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1:00. Hallazgo 3: HTML sin escapar, riesgo de XSS.</a:t>
            </a:r>
          </a:p>
          <a:p/>
          <a:p>
            <a:r>
              <a:t>En xss.go, el término sale de r.FormValue, o sea lo escribe el usuario, y se convierte con template.HTML. Esa conversión le dice a Go que el texto ya es HTML seguro y apaga el escapado automático de html/template.</a:t>
            </a:r>
          </a:p>
          <a:p/>
          <a:p>
            <a:r>
              <a:t>gosec lo marca con severidad media pero confianza BAJA: no puede saber si el dato viene del usuario. Aquí lo revisamos a mano y sí es real. Es el ejemplo de por qué la confianza importa: lo de confianza baja se verifica antes de actuar.</a:t>
            </a:r>
          </a:p>
          <a:p/>
          <a:p>
            <a:r>
              <a:t>Nota: la app intenta filtrar con una función removeScriptTag; filtrar con listas negras es frágil, lo correcto es escapar la salida.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1:15. Antes y después con código propio.</a:t>
            </a:r>
          </a:p>
          <a:p/>
          <a:p>
            <a:r>
              <a:t>La guía permite analizar código propio. Escribimos un módulo pequeño con los errores típicos de Go (17 hallazgos, 15 reglas distintas) y su versión corregida. Después de corregir, gosec reporta 0 hallazgos activos.</a:t>
            </a:r>
          </a:p>
          <a:p/>
          <a:p>
            <a:r>
              <a:t>La tabla resume nueve correcciones: consulta parametrizada, bcrypt, credencial desde variable de entorno, TLS con verificación, crypto/rand, cookie con banderas, servidor con tiempos límite, os.OpenRoot para rutas, y para el comando una lista de permitidos sin shell.</a:t>
            </a:r>
          </a:p>
          <a:p/>
          <a:p>
            <a:r>
              <a:t>Punto honesto: en el comando, gosec sigue avisando (G204 y G702) aunque ya validamos con lista de permitidos, porque no entiende esa validación. Se suprime con un comentario #nosec que lleva la justificación escrita, y gosec lo registra: 2 suprimidos, 0 activos.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1:15. Lo que gosec no vio. Esta es la parte más útil para decidir cómo usarlo.</a:t>
            </a:r>
          </a:p>
          <a:p/>
          <a:p>
            <a:r>
              <a:t>1) IDOR: es un fallo de lógica (acceder a datos de otro usuario cambiando un identificador). En idor.go gosec marcó el MD5 y errores sin manejar, pero no el IDOR en sí: ninguna regla de patrón puede saber qué usuario debería ver qué.</a:t>
            </a:r>
          </a:p>
          <a:p/>
          <a:p>
            <a:r>
              <a:t>2) Secretos en config.json: la contraseña de la base de datos y la clave de sesión están en un JSON; gosec solo lee archivos .go.</a:t>
            </a:r>
          </a:p>
          <a:p/>
          <a:p>
            <a:r>
              <a:t>3) Hicimos un experimento con la regla G101 (credenciales escritas en el código): de cuatro variables con credenciales, por defecto marcó una. La variable password con valor admin123 solo aparece si se configura ignore_entropy, y las llamadas clave... nunca, porque la regla busca nombres en inglés como password, token o secret. Resultados reales en resultados/experimento_g101.txt.</a:t>
            </a:r>
          </a:p>
          <a:p/>
          <a:p>
            <a:r>
              <a:t>4) Falsos positivos: tras validar con una lista de permitidos, G204 y G702 siguen avisando. Se suprimen con #nosec y una justificación.</a:t>
            </a:r>
          </a:p>
          <a:p/>
          <a:p>
            <a:r>
              <a:t>Conclusión: SAST se complementa con DAST, SCA y revisión manual, como dice la guía de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1:00. Experiencia de uso y conclusiones.</a:t>
            </a:r>
          </a:p>
          <a:p/>
          <a:p>
            <a:r>
              <a:t>Instalación: fácil. Un comando; tarda unos 2 minutos porque compila, y requiere Go. No necesitó Docker, a diferencia de la herramienta del ejemplo.</a:t>
            </a:r>
          </a:p>
          <a:p/>
          <a:p>
            <a:r>
              <a:t>Uso: muy fácil. gosec ./... y listo; unos 5 segundos para GoVWA.</a:t>
            </a:r>
          </a:p>
          <a:p/>
          <a:p>
            <a:r>
              <a:t>Resultados: claros y accionables, cada hallazgo trae regla, CWE, severidad, confianza, línea y el código. Con falsos positivos y falsos negativos, como cualquier SAST.</a:t>
            </a:r>
          </a:p>
          <a:p/>
          <a:p>
            <a:r>
              <a:t>Interfaz: es de terminal, pero genera un informe HTML con filtros por severidad y confianza (la captura de la derecha es real), y JSON, SARIF y JUnit para CI.</a:t>
            </a:r>
          </a:p>
          <a:p/>
          <a:p>
            <a:r>
              <a:t>Cierre: en 5 segundos encontró un SQLi real y 34 hallazgos más; corregir el código los llevó a cero. Recomendación: usarlo en CI con la Action oficial, priorizar severidad alta con confianza alta, y complementarlo con DAST y revisión.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TIEMPO: resto. Preguntas. Todo es reproducible desde la carpeta Guia 7/Gosec del repositorio: scripts, resultados y código propio.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um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282448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7830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5C99"/>
                </a:solidFill>
                <a:latin typeface="Segoe UI"/>
              </a:rPr>
              <a:t>GUÍA 7  ·  PRUEBAS DE SEGURIDAD AUTOMATIZADAS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57607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1F2328"/>
                </a:solidFill>
                <a:latin typeface="Segoe UI Semibold"/>
              </a:rPr>
              <a:t>Análisis estático de seguridad (SAST) con </a:t>
            </a:r>
            <a:r>
              <a:rPr sz="4000" b="1">
                <a:solidFill>
                  <a:srgbClr val="2B5C99"/>
                </a:solidFill>
                <a:latin typeface="Segoe UI Semibold"/>
              </a:rPr>
              <a:t>gosec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6052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0">
                <a:solidFill>
                  <a:srgbClr val="3D4248"/>
                </a:solidFill>
                <a:latin typeface="Segoe UI"/>
              </a:rPr>
              <a:t>Un escáner de código fuente para Go, probado sobre una aplicación vulnerable y sobre código propio.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03520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5B5F66"/>
                </a:solidFill>
                <a:latin typeface="Segoe UI"/>
              </a:rPr>
              <a:t>Cobos, Dilan Steven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5B5F66"/>
                </a:solidFill>
                <a:latin typeface="Segoe UI"/>
              </a:rPr>
              <a:t>Rodríguez Ángel, Santiago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5B5F66"/>
                </a:solidFill>
                <a:latin typeface="Segoe UI"/>
              </a:rPr>
              <a:t>Alarcón Ospina, Víctor Alfonso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5F66"/>
                </a:solidFill>
                <a:latin typeface="Segoe UI"/>
              </a:rPr>
              <a:t>Universidad Manuela Beltrán  ·  Ingeniería de Software  ·  2026</a:t>
            </a:r>
          </a:p>
        </p:txBody>
      </p:sp>
      <p:pic>
        <p:nvPicPr>
          <p:cNvPr id="8" name="Picture 7" descr="Informe HTML real de gosec con dos hallazgos: inyección SQL y cookie sin bander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783080"/>
            <a:ext cx="5029200" cy="2603053"/>
          </a:xfrm>
          <a:prstGeom prst="rect">
            <a:avLst/>
          </a:prstGeom>
          <a:ln>
            <a:solidFill>
              <a:srgbClr val="DCD8C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583680" y="4572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5F66"/>
                </a:solidFill>
                <a:latin typeface="Segoe UI"/>
              </a:rPr>
              <a:t>Informe HTML generado por gosec sobre GoVWA (captura real).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30352"/>
            <a:ext cx="64008" cy="868680"/>
          </a:xfrm>
          <a:prstGeom prst="rect">
            <a:avLst/>
          </a:prstGeom>
          <a:solidFill>
            <a:srgbClr val="2B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5C99"/>
                </a:solidFill>
                <a:latin typeface="Segoe UI"/>
              </a:rPr>
              <a:t>HERRAMIENTA SAST PARA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F2328"/>
                </a:solidFill>
                <a:latin typeface="Segoe UI Semibold"/>
              </a:rPr>
              <a:t>¿Qué es gosec?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5F66"/>
                </a:solidFill>
                <a:latin typeface="Segoe UI"/>
              </a:rPr>
              <a:t>gosec v2.30.0  ·  Guía 7  ·  Desarrollo de Software Seguro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5F66"/>
                </a:solidFill>
                <a:latin typeface="Segoe UI"/>
              </a:rPr>
              <a:t>2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1">
                <a:solidFill>
                  <a:srgbClr val="3D4248"/>
                </a:solidFill>
                <a:latin typeface="Segoe UI"/>
              </a:rPr>
              <a:t>SAST</a:t>
            </a:r>
            <a:r>
              <a:rPr sz="2100" b="0">
                <a:solidFill>
                  <a:srgbClr val="3D4248"/>
                </a:solidFill>
                <a:latin typeface="Segoe UI"/>
              </a:rPr>
              <a:t>: revisa el código fuente sin ejecutar la aplicación, como revisar los planos antes de construir.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54680"/>
            <a:ext cx="47548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3D4248"/>
                </a:solidFill>
                <a:latin typeface="Segoe UI"/>
              </a:rPr>
              <a:t>Código abierto, licencia Apache 2.0.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3D4248"/>
                </a:solidFill>
                <a:latin typeface="Segoe UI"/>
              </a:rPr>
              <a:t>Mantenido por el proyecto securego.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3D4248"/>
                </a:solidFill>
                <a:latin typeface="Segoe UI"/>
              </a:rPr>
              <a:t>Requiere Go 1.25 o superior.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3D4248"/>
                </a:solidFill>
                <a:latin typeface="Segoe UI"/>
              </a:rPr>
              <a:t>Reglas con su CWE y filtros por severidad y confianza.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691640"/>
            <a:ext cx="2697480" cy="2103120"/>
          </a:xfrm>
          <a:prstGeom prst="roundRect">
            <a:avLst>
              <a:gd name="adj" fmla="val 5000"/>
            </a:avLst>
          </a:prstGeom>
          <a:solidFill>
            <a:srgbClr val="FFFEFB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7" y="18745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2B5C99"/>
                </a:solidFill>
                <a:latin typeface="Segoe UI Semibold"/>
              </a:rPr>
              <a:t>62 reglas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7" y="2404872"/>
            <a:ext cx="23317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3D4248"/>
                </a:solidFill>
                <a:latin typeface="Segoe UI"/>
              </a:rPr>
              <a:t>Credenciales, SQL, comandos, criptografía, TLS, archivos, cookies y servidores HTTP.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1691640"/>
            <a:ext cx="2697480" cy="2103120"/>
          </a:xfrm>
          <a:prstGeom prst="roundRect">
            <a:avLst>
              <a:gd name="adj" fmla="val 5000"/>
            </a:avLst>
          </a:prstGeom>
          <a:solidFill>
            <a:srgbClr val="FFFEFB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18745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2B5C99"/>
                </a:solidFill>
                <a:latin typeface="Segoe UI Semibold"/>
              </a:rPr>
              <a:t>Flujo de 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0848" y="2404872"/>
            <a:ext cx="23317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3D4248"/>
                </a:solidFill>
                <a:latin typeface="Segoe UI"/>
              </a:rPr>
              <a:t>Sigue la entrada del usuario hasta SQL, comandos, rutas, SSRF, XSS y logs (G701 a G710).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3931920"/>
            <a:ext cx="2697480" cy="2103120"/>
          </a:xfrm>
          <a:prstGeom prst="roundRect">
            <a:avLst>
              <a:gd name="adj" fmla="val 5000"/>
            </a:avLst>
          </a:prstGeom>
          <a:solidFill>
            <a:srgbClr val="FFFEFB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7" y="41148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2B5C99"/>
                </a:solidFill>
                <a:latin typeface="Segoe UI Semibold"/>
              </a:rPr>
              <a:t>9 formatos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7" y="4645152"/>
            <a:ext cx="23317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3D4248"/>
                </a:solidFill>
                <a:latin typeface="Segoe UI"/>
              </a:rPr>
              <a:t>text, json, yaml, csv, junit-xml, html, sonarqube, golint y sarif.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3931920"/>
            <a:ext cx="2697480" cy="2103120"/>
          </a:xfrm>
          <a:prstGeom prst="roundRect">
            <a:avLst>
              <a:gd name="adj" fmla="val 5000"/>
            </a:avLst>
          </a:prstGeom>
          <a:solidFill>
            <a:srgbClr val="FFFEFB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41148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2B5C99"/>
                </a:solidFill>
                <a:latin typeface="Segoe UI Semibold"/>
              </a:rPr>
              <a:t>Listo para 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4645152"/>
            <a:ext cx="23317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3D4248"/>
                </a:solidFill>
                <a:latin typeface="Segoe UI"/>
              </a:rPr>
              <a:t>GitHub Action oficial (securego/gosec) y filtros para fallar el pipeline.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486400"/>
            <a:ext cx="4754880" cy="640080"/>
          </a:xfrm>
          <a:prstGeom prst="roundRect">
            <a:avLst>
              <a:gd name="adj" fmla="val 12000"/>
            </a:avLst>
          </a:prstGeom>
          <a:solidFill>
            <a:srgbClr val="E3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48640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2B5C99"/>
                </a:solidFill>
                <a:latin typeface="Segoe UI"/>
              </a:rPr>
              <a:t>Limitación clave: solo analiza código Go.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30352"/>
            <a:ext cx="64008" cy="868680"/>
          </a:xfrm>
          <a:prstGeom prst="rect">
            <a:avLst/>
          </a:prstGeom>
          <a:solidFill>
            <a:srgbClr val="2B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5C99"/>
                </a:solidFill>
                <a:latin typeface="Segoe UI"/>
              </a:rPr>
              <a:t>INSTALACIÓN Y PRIMER ESCANEO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F2328"/>
                </a:solidFill>
                <a:latin typeface="Segoe UI Semibold"/>
              </a:rPr>
              <a:t>Configuración y entorno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5F66"/>
                </a:solidFill>
                <a:latin typeface="Segoe UI"/>
              </a:rPr>
              <a:t>gosec v2.30.0  ·  Guía 7  ·  Desarrollo de Software Seguro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5F66"/>
                </a:solidFill>
                <a:latin typeface="Segoe UI"/>
              </a:rPr>
              <a:t>3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37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B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69164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F2328"/>
                </a:solidFill>
                <a:latin typeface="Segoe UI"/>
              </a:rPr>
              <a:t>Objetivo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020824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3D4248"/>
                </a:solidFill>
                <a:latin typeface="Segoe UI"/>
              </a:rPr>
              <a:t>GoVWA: aplicación web vulnerable escrita en Go (20 archivos, 1.569 líneas) y código propio.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6334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B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3347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587752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F2328"/>
                </a:solidFill>
                <a:latin typeface="Segoe UI"/>
              </a:rPr>
              <a:t>Entorno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916936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3D4248"/>
                </a:solidFill>
                <a:latin typeface="Segoe UI"/>
              </a:rPr>
              <a:t>Windows 11, Go 1.27.2. Sin Docker, sin cuenta y sin administrador.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5295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B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2958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8386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F2328"/>
                </a:solidFill>
                <a:latin typeface="Segoe UI"/>
              </a:rPr>
              <a:t>Instalación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813048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3D4248"/>
                </a:solidFill>
                <a:latin typeface="Segoe UI"/>
              </a:rPr>
              <a:t>Un comando. Compila gosec desde el código fuente: 1 min 50 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4256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B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42569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379976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F2328"/>
                </a:solidFill>
                <a:latin typeface="Segoe UI"/>
              </a:rPr>
              <a:t>Versión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7091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3D4248"/>
                </a:solidFill>
                <a:latin typeface="Segoe UI"/>
              </a:rPr>
              <a:t>El binario dice «dev»; go version -m revela la v2.30.0.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32180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B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321807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27608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F2328"/>
                </a:solidFill>
                <a:latin typeface="Segoe UI"/>
              </a:rPr>
              <a:t>Escaneo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605272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3D4248"/>
                </a:solidFill>
                <a:latin typeface="Segoe UI"/>
              </a:rPr>
              <a:t>Un análisis completo de GoVWA tarda unos 5 segundos.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1691640"/>
            <a:ext cx="5166360" cy="3035808"/>
          </a:xfrm>
          <a:prstGeom prst="roundRect">
            <a:avLst>
              <a:gd name="adj" fmla="val 3000"/>
            </a:avLst>
          </a:prstGeom>
          <a:solidFill>
            <a:srgbClr val="EFECE5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178308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5B5F66"/>
                </a:solidFill>
                <a:latin typeface="Segoe UI"/>
              </a:rPr>
              <a:t>COMANDOS USADOS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2103120"/>
            <a:ext cx="4800600" cy="25145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5B5F66"/>
                </a:solidFill>
                <a:latin typeface="Consolas"/>
              </a:rPr>
              <a:t/>
            </a:r>
            <a:r>
              <a:rPr sz="1200" b="0">
                <a:solidFill>
                  <a:srgbClr val="1F2328"/>
                </a:solidFill>
                <a:latin typeface="Consolas"/>
              </a:rPr>
              <a:t># instalar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5B5F66"/>
                </a:solidFill>
                <a:latin typeface="Consolas"/>
              </a:rPr>
              <a:t/>
            </a:r>
            <a:r>
              <a:rPr sz="1200" b="0">
                <a:solidFill>
                  <a:srgbClr val="1F2328"/>
                </a:solidFill>
                <a:latin typeface="Consolas"/>
              </a:rPr>
              <a:t>go install github.com/securego/gosec/v2/cmd/gosec@latest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5B5F66"/>
                </a:solidFill>
                <a:latin typeface="Consolas"/>
              </a:rPr>
              <a:t/>
            </a:r>
            <a:r>
              <a:rPr sz="1200" b="0">
                <a:solidFill>
                  <a:srgbClr val="1F2328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5B5F66"/>
                </a:solidFill>
                <a:latin typeface="Consolas"/>
              </a:rPr>
              <a:t/>
            </a:r>
            <a:r>
              <a:rPr sz="1200" b="0">
                <a:solidFill>
                  <a:srgbClr val="1F2328"/>
                </a:solidFill>
                <a:latin typeface="Consolas"/>
              </a:rPr>
              <a:t># comprobar la versión real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5B5F66"/>
                </a:solidFill>
                <a:latin typeface="Consolas"/>
              </a:rPr>
              <a:t/>
            </a:r>
            <a:r>
              <a:rPr sz="1200" b="0">
                <a:solidFill>
                  <a:srgbClr val="1F2328"/>
                </a:solidFill>
                <a:latin typeface="Consolas"/>
              </a:rPr>
              <a:t>go version -m gosec.exe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5B5F66"/>
                </a:solidFill>
                <a:latin typeface="Consolas"/>
              </a:rPr>
              <a:t/>
            </a:r>
            <a:r>
              <a:rPr sz="1200" b="0">
                <a:solidFill>
                  <a:srgbClr val="1F2328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5B5F66"/>
                </a:solidFill>
                <a:latin typeface="Consolas"/>
              </a:rPr>
              <a:t/>
            </a:r>
            <a:r>
              <a:rPr sz="1200" b="0">
                <a:solidFill>
                  <a:srgbClr val="1F2328"/>
                </a:solidFill>
                <a:latin typeface="Consolas"/>
              </a:rPr>
              <a:t># escanear y guardar el informe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5B5F66"/>
                </a:solidFill>
                <a:latin typeface="Consolas"/>
              </a:rPr>
              <a:t/>
            </a:r>
            <a:r>
              <a:rPr sz="1200" b="0">
                <a:solidFill>
                  <a:srgbClr val="1F2328"/>
                </a:solidFill>
                <a:latin typeface="Consolas"/>
              </a:rPr>
              <a:t>gosec -fmt=json -out=govwa.json ./...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5B5F66"/>
                </a:solidFill>
                <a:latin typeface="Consolas"/>
              </a:rPr>
              <a:t/>
            </a:r>
            <a:r>
              <a:rPr sz="1200" b="0">
                <a:solidFill>
                  <a:srgbClr val="1F2328"/>
                </a:solidFill>
                <a:latin typeface="Consolas"/>
              </a:rPr>
              <a:t>gosec -fmt=html -out=govwa.html ./...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4937760"/>
            <a:ext cx="5166360" cy="1051560"/>
          </a:xfrm>
          <a:prstGeom prst="roundRect">
            <a:avLst>
              <a:gd name="adj" fmla="val 8000"/>
            </a:avLst>
          </a:prstGeom>
          <a:solidFill>
            <a:srgbClr val="E3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4937760"/>
            <a:ext cx="48006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B5C99"/>
                </a:solidFill>
                <a:latin typeface="Segoe UI"/>
              </a:rPr>
              <a:t>Objetivo fijado: </a:t>
            </a:r>
            <a:r>
              <a:rPr sz="1500" b="0">
                <a:solidFill>
                  <a:srgbClr val="3D4248"/>
                </a:solidFill>
                <a:latin typeface="Segoe UI"/>
              </a:rPr>
              <a:t>GoVWA, commit 4058f79. Cada resultado se puede repetir con scripts/escanear.sh.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30352"/>
            <a:ext cx="64008" cy="868680"/>
          </a:xfrm>
          <a:prstGeom prst="rect">
            <a:avLst/>
          </a:prstGeom>
          <a:solidFill>
            <a:srgbClr val="2B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5C99"/>
                </a:solidFill>
                <a:latin typeface="Segoe UI"/>
              </a:rPr>
              <a:t>RESULTADOS SOBRE GOVWA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F2328"/>
                </a:solidFill>
                <a:latin typeface="Segoe UI Semibold"/>
              </a:rPr>
              <a:t>35 hallazgos en 20 archivos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5F66"/>
                </a:solidFill>
                <a:latin typeface="Segoe UI"/>
              </a:rPr>
              <a:t>gosec v2.30.0  ·  Guía 7  ·  Desarrollo de Software Seguro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5F66"/>
                </a:solidFill>
                <a:latin typeface="Segoe UI"/>
              </a:rPr>
              <a:t>4 / 11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600200"/>
          <a:ext cx="7406640" cy="4663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12480" y="1691640"/>
            <a:ext cx="3154680" cy="1051560"/>
          </a:xfrm>
          <a:prstGeom prst="roundRect">
            <a:avLst>
              <a:gd name="adj" fmla="val 5000"/>
            </a:avLst>
          </a:prstGeom>
          <a:solidFill>
            <a:srgbClr val="FFFEFB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60" y="1947672"/>
            <a:ext cx="868680" cy="548640"/>
          </a:xfrm>
          <a:prstGeom prst="roundRect">
            <a:avLst>
              <a:gd name="adj" fmla="val 50000"/>
            </a:avLst>
          </a:prstGeom>
          <a:solidFill>
            <a:srgbClr val="8C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947672"/>
            <a:ext cx="868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745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Segoe UI"/>
              </a:rPr>
              <a:t>Severidad ALTA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22199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5B5F66"/>
                </a:solidFill>
                <a:latin typeface="Segoe UI"/>
              </a:rPr>
              <a:t>inyección 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880360"/>
            <a:ext cx="3154680" cy="1051560"/>
          </a:xfrm>
          <a:prstGeom prst="roundRect">
            <a:avLst>
              <a:gd name="adj" fmla="val 5000"/>
            </a:avLst>
          </a:prstGeom>
          <a:solidFill>
            <a:srgbClr val="FFFEFB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95360" y="3136392"/>
            <a:ext cx="868680" cy="548640"/>
          </a:xfrm>
          <a:prstGeom prst="roundRect">
            <a:avLst>
              <a:gd name="adj" fmla="val 50000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3136392"/>
            <a:ext cx="868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0632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Segoe UI"/>
              </a:rPr>
              <a:t>Severidad MEDIA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41071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5B5F66"/>
                </a:solidFill>
                <a:latin typeface="Segoe UI"/>
              </a:rPr>
              <a:t>HTML, cripto, cookies, 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4069080"/>
            <a:ext cx="3154680" cy="1051560"/>
          </a:xfrm>
          <a:prstGeom prst="roundRect">
            <a:avLst>
              <a:gd name="adj" fmla="val 5000"/>
            </a:avLst>
          </a:prstGeom>
          <a:solidFill>
            <a:srgbClr val="FFFEFB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95360" y="4325112"/>
            <a:ext cx="868680" cy="548640"/>
          </a:xfrm>
          <a:prstGeom prst="roundRect">
            <a:avLst>
              <a:gd name="adj" fmla="val 50000"/>
            </a:avLst>
          </a:prstGeom>
          <a:solidFill>
            <a:srgbClr val="4A6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4325112"/>
            <a:ext cx="868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42519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Segoe UI"/>
              </a:rPr>
              <a:t>Severidad BAJA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459943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5B5F66"/>
                </a:solidFill>
                <a:latin typeface="Segoe UI"/>
              </a:rPr>
              <a:t>logs y errores sin manejar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5257800"/>
            <a:ext cx="3154680" cy="1005840"/>
          </a:xfrm>
          <a:prstGeom prst="roundRect">
            <a:avLst>
              <a:gd name="adj" fmla="val 8000"/>
            </a:avLst>
          </a:prstGeom>
          <a:solidFill>
            <a:srgbClr val="E3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0" y="5257800"/>
            <a:ext cx="27889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2B5C99"/>
                </a:solidFill>
                <a:latin typeface="Segoe UI"/>
              </a:rPr>
              <a:t>Confianza: </a:t>
            </a:r>
            <a:r>
              <a:rPr sz="1400" b="0">
                <a:solidFill>
                  <a:srgbClr val="3D4248"/>
                </a:solidFill>
                <a:latin typeface="Segoe UI"/>
              </a:rPr>
              <a:t>28 alta y 7 baja. La baja se revisa a mano.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30352"/>
            <a:ext cx="64008" cy="868680"/>
          </a:xfrm>
          <a:prstGeom prst="rect">
            <a:avLst/>
          </a:prstGeom>
          <a:solidFill>
            <a:srgbClr val="2B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5C99"/>
                </a:solidFill>
                <a:latin typeface="Segoe UI"/>
              </a:rPr>
              <a:t>HALLAZGO 1  ·  EL ÚNICO DE SEVERIDAD ALTA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F2328"/>
                </a:solidFill>
                <a:latin typeface="Segoe UI Semibold"/>
              </a:rPr>
              <a:t>Inyección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5F66"/>
                </a:solidFill>
                <a:latin typeface="Segoe UI"/>
              </a:rPr>
              <a:t>gosec v2.30.0  ·  Guía 7  ·  Desarrollo de Software Seguro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5F66"/>
                </a:solidFill>
                <a:latin typeface="Segoe UI"/>
              </a:rPr>
              <a:t>5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858000" cy="1984248"/>
          </a:xfrm>
          <a:prstGeom prst="roundRect">
            <a:avLst>
              <a:gd name="adj" fmla="val 3000"/>
            </a:avLst>
          </a:prstGeom>
          <a:solidFill>
            <a:srgbClr val="EFECE5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3736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5B5F66"/>
                </a:solidFill>
                <a:latin typeface="Segoe UI"/>
              </a:rPr>
              <a:t>GOSEC MARCÓ  ·  vulnerability/sqli/function.go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57400"/>
            <a:ext cx="6492240" cy="146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>
                <a:solidFill>
                  <a:srgbClr val="5B5F66"/>
                </a:solidFill>
                <a:latin typeface="Consolas"/>
              </a:rPr>
              <a:t> 37  </a:t>
            </a:r>
            <a:r>
              <a:rPr sz="1400" b="0">
                <a:solidFill>
                  <a:srgbClr val="1F2328"/>
                </a:solidFill>
                <a:latin typeface="Consolas"/>
              </a:rPr>
              <a:t>getProfileSql := fmt.Sprintf(`SELECT p.user_id, p.full_name,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5B5F66"/>
                </a:solidFill>
                <a:latin typeface="Consolas"/>
              </a:rPr>
              <a:t> 38  </a:t>
            </a:r>
            <a:r>
              <a:rPr sz="1400" b="0">
                <a:solidFill>
                  <a:srgbClr val="1F2328"/>
                </a:solidFill>
                <a:latin typeface="Consolas"/>
              </a:rPr>
              <a:t>    p.city, p.phone_number FROM Profile as p, Users as u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5B5F66"/>
                </a:solidFill>
                <a:latin typeface="Consolas"/>
              </a:rPr>
              <a:t> 39  </a:t>
            </a:r>
            <a:r>
              <a:rPr sz="1400" b="0">
                <a:solidFill>
                  <a:srgbClr val="1F2328"/>
                </a:solidFill>
                <a:latin typeface="Consolas"/>
              </a:rPr>
              <a:t>    where p.user_id = u.id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5B5F66"/>
                </a:solidFill>
                <a:latin typeface="Consolas"/>
              </a:rPr>
              <a:t> 40  </a:t>
            </a:r>
            <a:r>
              <a:rPr sz="1400" b="1">
                <a:solidFill>
                  <a:srgbClr val="8C2A1C"/>
                </a:solidFill>
                <a:latin typeface="Consolas"/>
              </a:rPr>
              <a:t>    and u.id=%s`, uid) //here is the vulnerable query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5B5F66"/>
                </a:solidFill>
                <a:latin typeface="Consolas"/>
              </a:rPr>
              <a:t> 41  </a:t>
            </a:r>
            <a:r>
              <a:rPr sz="1400" b="1">
                <a:solidFill>
                  <a:srgbClr val="8C2A1C"/>
                </a:solidFill>
                <a:latin typeface="Consolas"/>
              </a:rPr>
              <a:t>rows, err := DB.Query(getProfileSql)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13048"/>
            <a:ext cx="6858000" cy="1417319"/>
          </a:xfrm>
          <a:prstGeom prst="roundRect">
            <a:avLst>
              <a:gd name="adj" fmla="val 3000"/>
            </a:avLst>
          </a:prstGeom>
          <a:solidFill>
            <a:srgbClr val="EFECE5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904487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5B5F66"/>
                </a:solidFill>
                <a:latin typeface="Segoe UI"/>
              </a:rPr>
              <a:t>CORRECCIÓN DEL PROPIO REPOSITORIO  ·  SafeQueryGetData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224528"/>
            <a:ext cx="6492240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>
                <a:solidFill>
                  <a:srgbClr val="5B5F66"/>
                </a:solidFill>
                <a:latin typeface="Consolas"/>
              </a:rPr>
              <a:t> 66  </a:t>
            </a:r>
            <a:r>
              <a:rPr sz="1400" b="0">
                <a:solidFill>
                  <a:srgbClr val="1F2328"/>
                </a:solidFill>
                <a:latin typeface="Consolas"/>
              </a:rPr>
              <a:t>and u.id=?`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5B5F66"/>
                </a:solidFill>
                <a:latin typeface="Consolas"/>
              </a:rPr>
              <a:t> 69  </a:t>
            </a:r>
            <a:r>
              <a:rPr sz="1400" b="0">
                <a:solidFill>
                  <a:srgbClr val="1F2328"/>
                </a:solidFill>
                <a:latin typeface="Consolas"/>
              </a:rPr>
              <a:t>stmt, err := DB.Prepare(getProfileSql) //prepare statement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5B5F66"/>
                </a:solidFill>
                <a:latin typeface="Consolas"/>
              </a:rPr>
              <a:t> 75  </a:t>
            </a:r>
            <a:r>
              <a:rPr sz="1400" b="0">
                <a:solidFill>
                  <a:srgbClr val="1F2328"/>
                </a:solidFill>
                <a:latin typeface="Consolas"/>
              </a:rPr>
              <a:t>err = stmt.QueryRow(uid).Scan(&amp;p.Uid, &amp;p.Name, ...)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645920"/>
            <a:ext cx="1874519" cy="420624"/>
          </a:xfrm>
          <a:prstGeom prst="roundRect">
            <a:avLst>
              <a:gd name="adj" fmla="val 50000"/>
            </a:avLst>
          </a:prstGeom>
          <a:solidFill>
            <a:srgbClr val="8C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45920"/>
            <a:ext cx="187451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SEVERIDAD ALTA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38360" y="1645920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8C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38360" y="1645920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CONFIANZA ALTA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194560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5B5F66"/>
                </a:solidFill>
                <a:latin typeface="Segoe UI"/>
              </a:rPr>
              <a:t>G701 y G201  ·  CWE-89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651760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2B5C99"/>
                </a:solidFill>
                <a:latin typeface="Segoe UI Semibold"/>
              </a:rPr>
              <a:t>Riesgo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999232"/>
            <a:ext cx="37947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3D4248"/>
                </a:solidFill>
                <a:latin typeface="Segoe UI"/>
              </a:rPr>
              <a:t>El identificador del usuario se pega dentro de la instrucción SQL.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3D4248"/>
                </a:solidFill>
                <a:latin typeface="Segoe UI"/>
              </a:rPr>
              <a:t>Un atacante cambia su significado y lee o altera datos de otros usuarios.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572000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2B5C99"/>
                </a:solidFill>
                <a:latin typeface="Segoe UI Semibold"/>
              </a:rPr>
              <a:t>Mitigación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919472"/>
            <a:ext cx="3794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3D4248"/>
                </a:solidFill>
                <a:latin typeface="Segoe UI"/>
              </a:rPr>
              <a:t>Consulta parametrizada: el dato viaja aparte (?).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3D4248"/>
                </a:solidFill>
                <a:latin typeface="Segoe UI"/>
              </a:rPr>
              <a:t>Validar el tipo: el id debe ser numérico.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42432"/>
            <a:ext cx="6858000" cy="548640"/>
          </a:xfrm>
          <a:prstGeom prst="roundRect">
            <a:avLst>
              <a:gd name="adj" fmla="val 10000"/>
            </a:avLst>
          </a:prstGeom>
          <a:solidFill>
            <a:srgbClr val="E3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742432"/>
            <a:ext cx="6492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5C99"/>
                </a:solidFill>
                <a:latin typeface="Segoe UI"/>
              </a:rPr>
              <a:t>Control: la versión segura, en el mismo archivo, no fue marcada.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30352"/>
            <a:ext cx="64008" cy="868680"/>
          </a:xfrm>
          <a:prstGeom prst="rect">
            <a:avLst/>
          </a:prstGeom>
          <a:solidFill>
            <a:srgbClr val="2B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5C99"/>
                </a:solidFill>
                <a:latin typeface="Segoe UI"/>
              </a:rPr>
              <a:t>HALLAZGO 2  ·  SEVERIDAD MEDIA, CONFIANZA ALTA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F2328"/>
                </a:solidFill>
                <a:latin typeface="Segoe UI Semibold"/>
              </a:rPr>
              <a:t>Contraseñas protegidas con MD5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5F66"/>
                </a:solidFill>
                <a:latin typeface="Segoe UI"/>
              </a:rPr>
              <a:t>gosec v2.30.0  ·  Guía 7  ·  Desarrollo de Software Seguro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5F66"/>
                </a:solidFill>
                <a:latin typeface="Segoe UI"/>
              </a:rPr>
              <a:t>6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858000" cy="1417319"/>
          </a:xfrm>
          <a:prstGeom prst="roundRect">
            <a:avLst>
              <a:gd name="adj" fmla="val 3000"/>
            </a:avLst>
          </a:prstGeom>
          <a:solidFill>
            <a:srgbClr val="EFECE5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3736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5B5F66"/>
                </a:solidFill>
                <a:latin typeface="Segoe UI"/>
              </a:rPr>
              <a:t>GOSEC MARCÓ  ·  user/user.go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57400"/>
            <a:ext cx="6492240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>
                <a:solidFill>
                  <a:srgbClr val="5B5F66"/>
                </a:solidFill>
                <a:latin typeface="Consolas"/>
              </a:rPr>
              <a:t> 88  </a:t>
            </a:r>
            <a:r>
              <a:rPr sz="1400" b="1">
                <a:solidFill>
                  <a:srgbClr val="8C2A1C"/>
                </a:solidFill>
                <a:latin typeface="Consolas"/>
              </a:rPr>
              <a:t>pass := Md5Sum(r.FormValue("password"))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5B5F66"/>
                </a:solidFill>
                <a:latin typeface="Consolas"/>
              </a:rPr>
              <a:t>159  </a:t>
            </a:r>
            <a:r>
              <a:rPr sz="1400" b="0">
                <a:solidFill>
                  <a:srgbClr val="1F2328"/>
                </a:solidFill>
                <a:latin typeface="Consolas"/>
              </a:rPr>
              <a:t>func Md5Sum(text string) string {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5B5F66"/>
                </a:solidFill>
                <a:latin typeface="Consolas"/>
              </a:rPr>
              <a:t>160  </a:t>
            </a:r>
            <a:r>
              <a:rPr sz="1400" b="1">
                <a:solidFill>
                  <a:srgbClr val="8C2A1C"/>
                </a:solidFill>
                <a:latin typeface="Consolas"/>
              </a:rPr>
              <a:t>    hasher := md5.New()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46120"/>
            <a:ext cx="6858000" cy="1700784"/>
          </a:xfrm>
          <a:prstGeom prst="roundRect">
            <a:avLst>
              <a:gd name="adj" fmla="val 3000"/>
            </a:avLst>
          </a:prstGeom>
          <a:solidFill>
            <a:srgbClr val="EFECE5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33756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5B5F66"/>
                </a:solidFill>
                <a:latin typeface="Segoe UI"/>
              </a:rPr>
              <a:t>NUESTRA CORRECCIÓN  ·  ejemplo-propio/corregido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657600"/>
            <a:ext cx="6492240" cy="1179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>
                <a:solidFill>
                  <a:srgbClr val="5B5F66"/>
                </a:solidFill>
                <a:latin typeface="Consolas"/>
              </a:rPr>
              <a:t/>
            </a:r>
            <a:r>
              <a:rPr sz="1400" b="0">
                <a:solidFill>
                  <a:srgbClr val="1F2328"/>
                </a:solidFill>
                <a:latin typeface="Consolas"/>
              </a:rPr>
              <a:t>h, err := bcrypt.GenerateFromPassword(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5B5F66"/>
                </a:solidFill>
                <a:latin typeface="Consolas"/>
              </a:rPr>
              <a:t/>
            </a:r>
            <a:r>
              <a:rPr sz="1400" b="0">
                <a:solidFill>
                  <a:srgbClr val="1F2328"/>
                </a:solidFill>
                <a:latin typeface="Consolas"/>
              </a:rPr>
              <a:t>    []byte(clave), bcrypt.DefaultCost)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5B5F66"/>
                </a:solidFill>
                <a:latin typeface="Consolas"/>
              </a:rPr>
              <a:t/>
            </a:r>
            <a:r>
              <a:rPr sz="1400" b="0">
                <a:solidFill>
                  <a:srgbClr val="1F2328"/>
                </a:solidFill>
                <a:latin typeface="Consolas"/>
              </a:rPr>
              <a:t>// al iniciar sesión: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5B5F66"/>
                </a:solidFill>
                <a:latin typeface="Consolas"/>
              </a:rPr>
              <a:t/>
            </a:r>
            <a:r>
              <a:rPr sz="1400" b="0">
                <a:solidFill>
                  <a:srgbClr val="1F2328"/>
                </a:solidFill>
                <a:latin typeface="Consolas"/>
              </a:rPr>
              <a:t>// bcrypt.CompareHashAndPassword(h, ...)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645920"/>
            <a:ext cx="1874519" cy="420624"/>
          </a:xfrm>
          <a:prstGeom prst="roundRect">
            <a:avLst>
              <a:gd name="adj" fmla="val 50000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45920"/>
            <a:ext cx="187451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SEVERIDAD MEDIA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38360" y="1645920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8C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38360" y="1645920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CONFIANZA ALTA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194560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5B5F66"/>
                </a:solidFill>
                <a:latin typeface="Segoe UI"/>
              </a:rPr>
              <a:t>G401 y G501  ·  CWE-328 y CWE-327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651760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2B5C99"/>
                </a:solidFill>
                <a:latin typeface="Segoe UI Semibold"/>
              </a:rPr>
              <a:t>Riesgo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999232"/>
            <a:ext cx="37947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3D4248"/>
                </a:solidFill>
                <a:latin typeface="Segoe UI"/>
              </a:rPr>
              <a:t>MD5 es muy rápido y aquí no lleva sal.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3D4248"/>
                </a:solidFill>
                <a:latin typeface="Segoe UI"/>
              </a:rPr>
              <a:t>Con una base de datos filtrada, las contraseñas comunes se recuperan en segundos.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572000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2B5C99"/>
                </a:solidFill>
                <a:latin typeface="Segoe UI Semibold"/>
              </a:rPr>
              <a:t>Mitigación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919472"/>
            <a:ext cx="3794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3D4248"/>
                </a:solidFill>
                <a:latin typeface="Segoe UI"/>
              </a:rPr>
              <a:t>bcrypt o argon2id: lentos a propósito y con sal.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3D4248"/>
                </a:solidFill>
                <a:latin typeface="Segoe UI"/>
              </a:rPr>
              <a:t>Migrar los hashes viejos al iniciar sesión.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42432"/>
            <a:ext cx="6858000" cy="548640"/>
          </a:xfrm>
          <a:prstGeom prst="roundRect">
            <a:avLst>
              <a:gd name="adj" fmla="val 10000"/>
            </a:avLst>
          </a:prstGeom>
          <a:solidFill>
            <a:srgbClr val="E3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742432"/>
            <a:ext cx="6492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5C99"/>
                </a:solidFill>
                <a:latin typeface="Segoe UI"/>
              </a:rPr>
              <a:t>La misma debilidad en 3 archivos: 6 hallazgos (user.go, idor.go y csa.go).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30352"/>
            <a:ext cx="64008" cy="868680"/>
          </a:xfrm>
          <a:prstGeom prst="rect">
            <a:avLst/>
          </a:prstGeom>
          <a:solidFill>
            <a:srgbClr val="2B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5C99"/>
                </a:solidFill>
                <a:latin typeface="Segoe UI"/>
              </a:rPr>
              <a:t>HALLAZGO 3  ·  CONFIANZA BAJA: REQUIERE REVISIÓN HUMANA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F2328"/>
                </a:solidFill>
                <a:latin typeface="Segoe UI Semibold"/>
              </a:rPr>
              <a:t>HTML sin escapar (XSS)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5F66"/>
                </a:solidFill>
                <a:latin typeface="Segoe UI"/>
              </a:rPr>
              <a:t>gosec v2.30.0  ·  Guía 7  ·  Desarrollo de Software Seguro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5F66"/>
                </a:solidFill>
                <a:latin typeface="Segoe UI"/>
              </a:rPr>
              <a:t>7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858000" cy="1700784"/>
          </a:xfrm>
          <a:prstGeom prst="roundRect">
            <a:avLst>
              <a:gd name="adj" fmla="val 3000"/>
            </a:avLst>
          </a:prstGeom>
          <a:solidFill>
            <a:srgbClr val="EFECE5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3736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5B5F66"/>
                </a:solidFill>
                <a:latin typeface="Segoe UI"/>
              </a:rPr>
              <a:t>GOSEC MARCÓ  ·  vulnerability/xss/xss.go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57400"/>
            <a:ext cx="6492240" cy="1179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>
                <a:solidFill>
                  <a:srgbClr val="5B5F66"/>
                </a:solidFill>
                <a:latin typeface="Consolas"/>
              </a:rPr>
              <a:t> 39  </a:t>
            </a:r>
            <a:r>
              <a:rPr sz="1400" b="0">
                <a:solidFill>
                  <a:srgbClr val="1F2328"/>
                </a:solidFill>
                <a:latin typeface="Consolas"/>
              </a:rPr>
              <a:t>term := r.FormValue("term")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5B5F66"/>
                </a:solidFill>
                <a:latin typeface="Consolas"/>
              </a:rPr>
              <a:t> 61  </a:t>
            </a:r>
            <a:r>
              <a:rPr sz="1400" b="0">
                <a:solidFill>
                  <a:srgbClr val="1F2328"/>
                </a:solidFill>
                <a:latin typeface="Consolas"/>
              </a:rPr>
              <a:t>vuln := fmt.Sprintf("&lt;b&gt;%s&lt;/b&gt;", term)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5B5F66"/>
                </a:solidFill>
                <a:latin typeface="Consolas"/>
              </a:rPr>
              <a:t> 62  </a:t>
            </a:r>
            <a:r>
              <a:rPr sz="1400" b="1">
                <a:solidFill>
                  <a:srgbClr val="8C2A1C"/>
                </a:solidFill>
                <a:latin typeface="Consolas"/>
              </a:rPr>
              <a:t>data["value"] = template.HTML(value)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5B5F66"/>
                </a:solidFill>
                <a:latin typeface="Consolas"/>
              </a:rPr>
              <a:t> 63  </a:t>
            </a:r>
            <a:r>
              <a:rPr sz="1400" b="1">
                <a:solidFill>
                  <a:srgbClr val="8C2A1C"/>
                </a:solidFill>
                <a:latin typeface="Consolas"/>
              </a:rPr>
              <a:t>data["term"] = template.HTML(vuln)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29584"/>
            <a:ext cx="6858000" cy="1133856"/>
          </a:xfrm>
          <a:prstGeom prst="roundRect">
            <a:avLst>
              <a:gd name="adj" fmla="val 3000"/>
            </a:avLst>
          </a:prstGeom>
          <a:solidFill>
            <a:srgbClr val="EFECE5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621024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5B5F66"/>
                </a:solidFill>
                <a:latin typeface="Segoe UI"/>
              </a:rPr>
              <a:t>NUESTRA CORRECCIÓN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941064"/>
            <a:ext cx="6492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>
                <a:solidFill>
                  <a:srgbClr val="5B5F66"/>
                </a:solidFill>
                <a:latin typeface="Consolas"/>
              </a:rPr>
              <a:t/>
            </a:r>
            <a:r>
              <a:rPr sz="1400" b="0">
                <a:solidFill>
                  <a:srgbClr val="1F2328"/>
                </a:solidFill>
                <a:latin typeface="Consolas"/>
              </a:rPr>
              <a:t>data["term"] = term   // html/template lo escapa solo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5B5F66"/>
                </a:solidFill>
                <a:latin typeface="Consolas"/>
              </a:rPr>
              <a:t/>
            </a:r>
            <a:r>
              <a:rPr sz="1400" b="0">
                <a:solidFill>
                  <a:srgbClr val="1F2328"/>
                </a:solidFill>
                <a:latin typeface="Consolas"/>
              </a:rPr>
              <a:t>// HTML propio: solo constantes, o sanitizado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645920"/>
            <a:ext cx="1874519" cy="420624"/>
          </a:xfrm>
          <a:prstGeom prst="roundRect">
            <a:avLst>
              <a:gd name="adj" fmla="val 50000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645920"/>
            <a:ext cx="187451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SEVERIDAD MEDIA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38360" y="1645920"/>
            <a:ext cx="1828800" cy="420624"/>
          </a:xfrm>
          <a:prstGeom prst="roundRect">
            <a:avLst>
              <a:gd name="adj" fmla="val 50000"/>
            </a:avLst>
          </a:prstGeom>
          <a:solidFill>
            <a:srgbClr val="4A6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38360" y="1645920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CONFIANZA BAJA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194560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5B5F66"/>
                </a:solidFill>
                <a:latin typeface="Segoe UI"/>
              </a:rPr>
              <a:t>G203  ·  CWE-79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651760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2B5C99"/>
                </a:solidFill>
                <a:latin typeface="Segoe UI Semibold"/>
              </a:rPr>
              <a:t>Riesgo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999232"/>
            <a:ext cx="37947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3D4248"/>
                </a:solidFill>
                <a:latin typeface="Segoe UI"/>
              </a:rPr>
              <a:t>template.HTML le dice a Go que el texto ya es seguro y salta el escapado automático.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3D4248"/>
                </a:solidFill>
                <a:latin typeface="Segoe UI"/>
              </a:rPr>
              <a:t>Un término con una etiqueta de script se ejecutaría en el navegador de la víctima.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572000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2B5C99"/>
                </a:solidFill>
                <a:latin typeface="Segoe UI Semibold"/>
              </a:rPr>
              <a:t>Mitigación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919472"/>
            <a:ext cx="3794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3D4248"/>
                </a:solidFill>
                <a:latin typeface="Segoe UI"/>
              </a:rPr>
              <a:t>Pasar texto plano: html/template escapa solo.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3D4248"/>
                </a:solidFill>
                <a:latin typeface="Segoe UI"/>
              </a:rPr>
              <a:t>Si hace falta HTML, sanitizarlo y añadir una política CSP.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42432"/>
            <a:ext cx="6858000" cy="548640"/>
          </a:xfrm>
          <a:prstGeom prst="roundRect">
            <a:avLst>
              <a:gd name="adj" fmla="val 10000"/>
            </a:avLst>
          </a:prstGeom>
          <a:solidFill>
            <a:srgbClr val="E3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742432"/>
            <a:ext cx="6492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5C99"/>
                </a:solidFill>
                <a:latin typeface="Segoe UI"/>
              </a:rPr>
              <a:t>6 hallazgos G203 en 2 archivos. gosec duda (confianza baja): aquí sí son reales.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30352"/>
            <a:ext cx="64008" cy="868680"/>
          </a:xfrm>
          <a:prstGeom prst="rect">
            <a:avLst/>
          </a:prstGeom>
          <a:solidFill>
            <a:srgbClr val="2B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5C99"/>
                </a:solidFill>
                <a:latin typeface="Segoe UI"/>
              </a:rPr>
              <a:t>EL CICLO COMPLETO: DETECTAR, CORREGIR, VOLVER A ESCANEAR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F2328"/>
                </a:solidFill>
                <a:latin typeface="Segoe UI Semibold"/>
              </a:rPr>
              <a:t>Antes y después: código propio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5F66"/>
                </a:solidFill>
                <a:latin typeface="Segoe UI"/>
              </a:rPr>
              <a:t>gosec v2.30.0  ·  Guía 7  ·  Desarrollo de Software Seguro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5F66"/>
                </a:solidFill>
                <a:latin typeface="Segoe UI"/>
              </a:rPr>
              <a:t>8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200400" cy="4526280"/>
          </a:xfrm>
          <a:prstGeom prst="roundRect">
            <a:avLst>
              <a:gd name="adj" fmla="val 5000"/>
            </a:avLst>
          </a:prstGeom>
          <a:solidFill>
            <a:srgbClr val="FFFEFB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8C2A1C"/>
                </a:solidFill>
                <a:latin typeface="Segoe UI Semibold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3D4248"/>
                </a:solidFill>
                <a:latin typeface="Segoe UI"/>
              </a:rPr>
              <a:t>hallazgos en el código vulnerable (6 altos, 9 medios y 2 bajos)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000" b="0">
                <a:solidFill>
                  <a:srgbClr val="5B5F66"/>
                </a:solidFill>
                <a:latin typeface="Segoe UI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2B5C99"/>
                </a:solidFill>
                <a:latin typeface="Segoe UI Semibold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8348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3D4248"/>
                </a:solidFill>
                <a:latin typeface="Segoe UI"/>
              </a:rPr>
              <a:t>hallazgos activos tras corregir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3D4248"/>
                </a:solidFill>
                <a:latin typeface="Segoe UI"/>
              </a:rPr>
              <a:t>(2 suprimidos con #nosec y justificación escrita)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0" y="1691640"/>
          <a:ext cx="7452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/>
                <a:gridCol w="4114800"/>
              </a:tblGrid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 Semibold"/>
                        </a:rPr>
                        <a:t>Error (regla de gosec)</a:t>
                      </a:r>
                    </a:p>
                  </a:txBody>
                  <a:tcPr marL="91440" marR="91440" marT="27432" marB="27432" anchor="ctr">
                    <a:solidFill>
                      <a:srgbClr val="2B5C9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 Semibold"/>
                        </a:rPr>
                        <a:t>Corrección aplicada</a:t>
                      </a:r>
                    </a:p>
                  </a:txBody>
                  <a:tcPr marL="91440" marR="91440" marT="27432" marB="27432" anchor="ctr">
                    <a:solidFill>
                      <a:srgbClr val="2B5C9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Segoe UI Semibold"/>
                        </a:rPr>
                        <a:t>SQL armado a mano (G201, G701)</a:t>
                      </a:r>
                    </a:p>
                  </a:txBody>
                  <a:tcPr marL="91440" marR="91440" marT="27432" marB="27432" anchor="ctr">
                    <a:solidFill>
                      <a:srgbClr val="FFF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Segoe UI"/>
                        </a:rPr>
                        <a:t>Consulta parametrizada: db.Query(sql, id)</a:t>
                      </a:r>
                    </a:p>
                  </a:txBody>
                  <a:tcPr marL="91440" marR="91440" marT="27432" marB="27432" anchor="ctr">
                    <a:solidFill>
                      <a:srgbClr val="FFFE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Segoe UI Semibold"/>
                        </a:rPr>
                        <a:t>Contraseñas con MD5 (G401, G501)</a:t>
                      </a:r>
                    </a:p>
                  </a:txBody>
                  <a:tcPr marL="91440" marR="91440" marT="27432" marB="27432" anchor="ctr">
                    <a:solidFill>
                      <a:srgbClr val="EFEC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Segoe UI"/>
                        </a:rPr>
                        <a:t>bcrypt con sal y costo</a:t>
                      </a:r>
                    </a:p>
                  </a:txBody>
                  <a:tcPr marL="91440" marR="91440" marT="27432" marB="27432" anchor="ctr">
                    <a:solidFill>
                      <a:srgbClr val="EFEC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Segoe UI Semibold"/>
                        </a:rPr>
                        <a:t>Credencial en el código (G101)</a:t>
                      </a:r>
                    </a:p>
                  </a:txBody>
                  <a:tcPr marL="91440" marR="91440" marT="27432" marB="27432" anchor="ctr">
                    <a:solidFill>
                      <a:srgbClr val="FFF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Segoe UI"/>
                        </a:rPr>
                        <a:t>Se lee con os.Getenv, nunca del fuente</a:t>
                      </a:r>
                    </a:p>
                  </a:txBody>
                  <a:tcPr marL="91440" marR="91440" marT="27432" marB="27432" anchor="ctr">
                    <a:solidFill>
                      <a:srgbClr val="FFFE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Segoe UI Semibold"/>
                        </a:rPr>
                        <a:t>TLS sin verificar (G402)</a:t>
                      </a:r>
                    </a:p>
                  </a:txBody>
                  <a:tcPr marL="91440" marR="91440" marT="27432" marB="27432" anchor="ctr">
                    <a:solidFill>
                      <a:srgbClr val="EFEC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Segoe UI"/>
                        </a:rPr>
                        <a:t>Verificación activa y TLS 1.2 como mínimo</a:t>
                      </a:r>
                    </a:p>
                  </a:txBody>
                  <a:tcPr marL="91440" marR="91440" marT="27432" marB="27432" anchor="ctr">
                    <a:solidFill>
                      <a:srgbClr val="EFEC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Segoe UI Semibold"/>
                        </a:rPr>
                        <a:t>Tokens con math/rand (G404)</a:t>
                      </a:r>
                    </a:p>
                  </a:txBody>
                  <a:tcPr marL="91440" marR="91440" marT="27432" marB="27432" anchor="ctr">
                    <a:solidFill>
                      <a:srgbClr val="FFF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Segoe UI"/>
                        </a:rPr>
                        <a:t>crypto/rand</a:t>
                      </a:r>
                    </a:p>
                  </a:txBody>
                  <a:tcPr marL="91440" marR="91440" marT="27432" marB="27432" anchor="ctr">
                    <a:solidFill>
                      <a:srgbClr val="FFFE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Segoe UI Semibold"/>
                        </a:rPr>
                        <a:t>Cookie sin banderas (G124)</a:t>
                      </a:r>
                    </a:p>
                  </a:txBody>
                  <a:tcPr marL="91440" marR="91440" marT="27432" marB="27432" anchor="ctr">
                    <a:solidFill>
                      <a:srgbClr val="EFEC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Segoe UI"/>
                        </a:rPr>
                        <a:t>Secure, HttpOnly y SameSite</a:t>
                      </a:r>
                    </a:p>
                  </a:txBody>
                  <a:tcPr marL="91440" marR="91440" marT="27432" marB="27432" anchor="ctr">
                    <a:solidFill>
                      <a:srgbClr val="EFEC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Segoe UI Semibold"/>
                        </a:rPr>
                        <a:t>Servidor sin límites (G114)</a:t>
                      </a:r>
                    </a:p>
                  </a:txBody>
                  <a:tcPr marL="91440" marR="91440" marT="27432" marB="27432" anchor="ctr">
                    <a:solidFill>
                      <a:srgbClr val="FFF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Segoe UI"/>
                        </a:rPr>
                        <a:t>http.Server con tiempos límite, solo en 127.0.0.1</a:t>
                      </a:r>
                    </a:p>
                  </a:txBody>
                  <a:tcPr marL="91440" marR="91440" marT="27432" marB="27432" anchor="ctr">
                    <a:solidFill>
                      <a:srgbClr val="FFFE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Segoe UI Semibold"/>
                        </a:rPr>
                        <a:t>Ruta del usuario (G304, G703)</a:t>
                      </a:r>
                    </a:p>
                  </a:txBody>
                  <a:tcPr marL="91440" marR="91440" marT="27432" marB="27432" anchor="ctr">
                    <a:solidFill>
                      <a:srgbClr val="EFEC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Segoe UI"/>
                        </a:rPr>
                        <a:t>os.OpenRoot: no puede salir de la carpeta</a:t>
                      </a:r>
                    </a:p>
                  </a:txBody>
                  <a:tcPr marL="91440" marR="91440" marT="27432" marB="27432" anchor="ctr">
                    <a:solidFill>
                      <a:srgbClr val="EFEC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Segoe UI Semibold"/>
                        </a:rPr>
                        <a:t>Comando del usuario (G204, G702, G705)</a:t>
                      </a:r>
                    </a:p>
                  </a:txBody>
                  <a:tcPr marL="91440" marR="91440" marT="27432" marB="27432" anchor="ctr">
                    <a:solidFill>
                      <a:srgbClr val="FFF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Segoe UI"/>
                        </a:rPr>
                        <a:t>Lista de permitidos, sin shell ni eco de salida</a:t>
                      </a:r>
                    </a:p>
                  </a:txBody>
                  <a:tcPr marL="91440" marR="91440" marT="27432" marB="27432" anchor="ctr">
                    <a:solidFill>
                      <a:srgbClr val="FFFE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30352"/>
            <a:ext cx="64008" cy="868680"/>
          </a:xfrm>
          <a:prstGeom prst="rect">
            <a:avLst/>
          </a:prstGeom>
          <a:solidFill>
            <a:srgbClr val="2B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5C99"/>
                </a:solidFill>
                <a:latin typeface="Segoe UI"/>
              </a:rPr>
              <a:t>LÍMITES, CON 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F2328"/>
                </a:solidFill>
                <a:latin typeface="Segoe UI Semibold"/>
              </a:rPr>
              <a:t>Lo que gosec no vio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5F66"/>
                </a:solidFill>
                <a:latin typeface="Segoe UI"/>
              </a:rPr>
              <a:t>gosec v2.30.0  ·  Guía 7  ·  Desarrollo de Software Seguro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5F66"/>
                </a:solidFill>
                <a:latin typeface="Segoe UI"/>
              </a:rPr>
              <a:t>9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440680" cy="1920240"/>
          </a:xfrm>
          <a:prstGeom prst="roundRect">
            <a:avLst>
              <a:gd name="adj" fmla="val 5000"/>
            </a:avLst>
          </a:prstGeom>
          <a:solidFill>
            <a:srgbClr val="FFFEFB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2B5C99"/>
                </a:solidFill>
                <a:latin typeface="Segoe UI Semibold"/>
              </a:rPr>
              <a:t>IDOR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50008"/>
            <a:ext cx="4983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3D4248"/>
                </a:solidFill>
                <a:latin typeface="Segoe UI"/>
              </a:rPr>
              <a:t>Es un fallo de lógica. En idor.go gosec marcó el MD5 y errores sin manejar, pero no el acceso a datos de otro usuario.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440680" cy="1920240"/>
          </a:xfrm>
          <a:prstGeom prst="roundRect">
            <a:avLst>
              <a:gd name="adj" fmla="val 5000"/>
            </a:avLst>
          </a:prstGeom>
          <a:solidFill>
            <a:srgbClr val="FFFEFB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2B5C99"/>
                </a:solidFill>
                <a:latin typeface="Segoe UI Semibold"/>
              </a:rPr>
              <a:t>Secretos en config.json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50008"/>
            <a:ext cx="4983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3D4248"/>
                </a:solidFill>
                <a:latin typeface="Segoe UI"/>
              </a:rPr>
              <a:t>La contraseña de la base y la clave de sesión están en un JSON. gosec solo analiza archivos .go.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39"/>
            <a:ext cx="5440680" cy="1920240"/>
          </a:xfrm>
          <a:prstGeom prst="roundRect">
            <a:avLst>
              <a:gd name="adj" fmla="val 5000"/>
            </a:avLst>
          </a:prstGeom>
          <a:solidFill>
            <a:srgbClr val="FFFEFB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31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2B5C99"/>
                </a:solidFill>
                <a:latin typeface="Segoe UI Semibold"/>
              </a:rPr>
              <a:t>Credenciales: depende del nombre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07407"/>
            <a:ext cx="4983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3D4248"/>
                </a:solidFill>
                <a:latin typeface="Segoe UI"/>
              </a:rPr>
              <a:t>Con 4 variables con credenciales, G101 marcó 1. password = "admin123" exige ignore_entropy y las variables llamadas clave... nunca.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49039"/>
            <a:ext cx="5440680" cy="1920240"/>
          </a:xfrm>
          <a:prstGeom prst="roundRect">
            <a:avLst>
              <a:gd name="adj" fmla="val 5000"/>
            </a:avLst>
          </a:prstGeom>
          <a:solidFill>
            <a:srgbClr val="FFFEFB"/>
          </a:solidFill>
          <a:ln w="12700">
            <a:solidFill>
              <a:srgbClr val="DC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2B5C99"/>
                </a:solidFill>
                <a:latin typeface="Segoe UI Semibold"/>
              </a:rPr>
              <a:t>Falsos positivos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407407"/>
            <a:ext cx="4983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3D4248"/>
                </a:solidFill>
                <a:latin typeface="Segoe UI"/>
              </a:rPr>
              <a:t>Tras validar con lista de permitidos, G204 y G702 siguen avisando. Se suprimen con #nosec y justificación; gosec lo registra.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852160"/>
            <a:ext cx="11018520" cy="457200"/>
          </a:xfrm>
          <a:prstGeom prst="roundRect">
            <a:avLst>
              <a:gd name="adj" fmla="val 10000"/>
            </a:avLst>
          </a:prstGeom>
          <a:solidFill>
            <a:srgbClr val="E3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852160"/>
            <a:ext cx="10652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2B5C99"/>
                </a:solidFill>
                <a:latin typeface="Segoe UI"/>
              </a:rPr>
              <a:t>Por eso SAST se complementa con DAST, SCA y revisión manual.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30352"/>
            <a:ext cx="64008" cy="868680"/>
          </a:xfrm>
          <a:prstGeom prst="rect">
            <a:avLst/>
          </a:prstGeom>
          <a:solidFill>
            <a:srgbClr val="2B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5C99"/>
                </a:solidFill>
                <a:latin typeface="Segoe UI"/>
              </a:rPr>
              <a:t>VALORACIÓN DEL GRUPO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F2328"/>
                </a:solidFill>
                <a:latin typeface="Segoe UI Semibold"/>
              </a:rPr>
              <a:t>Experiencia de uso y 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5F66"/>
                </a:solidFill>
                <a:latin typeface="Segoe UI"/>
              </a:rPr>
              <a:t>gosec v2.30.0  ·  Guía 7  ·  Desarrollo de Software Seguro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5F66"/>
                </a:solidFill>
                <a:latin typeface="Segoe UI"/>
              </a:rPr>
              <a:t>10 /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71323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5394960"/>
              </a:tblGrid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Segoe UI Semibold"/>
                        </a:rPr>
                        <a:t>Criterio</a:t>
                      </a:r>
                    </a:p>
                  </a:txBody>
                  <a:tcPr marL="91440" marR="91440" marT="27432" marB="27432" anchor="ctr">
                    <a:solidFill>
                      <a:srgbClr val="2B5C9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Segoe UI Semibold"/>
                        </a:rPr>
                        <a:t>Nuestra experiencia</a:t>
                      </a:r>
                    </a:p>
                  </a:txBody>
                  <a:tcPr marL="91440" marR="91440" marT="27432" marB="27432" anchor="ctr">
                    <a:solidFill>
                      <a:srgbClr val="2B5C9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1F2328"/>
                          </a:solidFill>
                          <a:latin typeface="Segoe UI Semibold"/>
                        </a:rPr>
                        <a:t>Instalación</a:t>
                      </a:r>
                    </a:p>
                  </a:txBody>
                  <a:tcPr marL="91440" marR="91440" marT="27432" marB="27432" anchor="ctr">
                    <a:solidFill>
                      <a:srgbClr val="FFF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1F2328"/>
                          </a:solidFill>
                          <a:latin typeface="Segoe UI"/>
                        </a:rPr>
                        <a:t>Fácil: un comando (go install), unos 2 min compilando. Requiere Go; no necesita Docker.</a:t>
                      </a:r>
                    </a:p>
                  </a:txBody>
                  <a:tcPr marL="91440" marR="91440" marT="27432" marB="27432" anchor="ctr">
                    <a:solidFill>
                      <a:srgbClr val="FFFE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1F2328"/>
                          </a:solidFill>
                          <a:latin typeface="Segoe UI Semibold"/>
                        </a:rPr>
                        <a:t>Facilidad de uso</a:t>
                      </a:r>
                    </a:p>
                  </a:txBody>
                  <a:tcPr marL="91440" marR="91440" marT="27432" marB="27432" anchor="ctr">
                    <a:solidFill>
                      <a:srgbClr val="EFEC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1F2328"/>
                          </a:solidFill>
                          <a:latin typeface="Segoe UI"/>
                        </a:rPr>
                        <a:t>Muy fácil: gosec ./... y listo. Un análisis completo de GoVWA tarda unos 5 s.</a:t>
                      </a:r>
                    </a:p>
                  </a:txBody>
                  <a:tcPr marL="91440" marR="91440" marT="27432" marB="27432" anchor="ctr">
                    <a:solidFill>
                      <a:srgbClr val="EFECE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1F2328"/>
                          </a:solidFill>
                          <a:latin typeface="Segoe UI Semibold"/>
                        </a:rPr>
                        <a:t>Resultados</a:t>
                      </a:r>
                    </a:p>
                  </a:txBody>
                  <a:tcPr marL="91440" marR="91440" marT="27432" marB="27432" anchor="ctr">
                    <a:solidFill>
                      <a:srgbClr val="FFF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1F2328"/>
                          </a:solidFill>
                          <a:latin typeface="Segoe UI"/>
                        </a:rPr>
                        <a:t>Claros: regla, CWE, severidad, confianza, línea y código. Con falsos positivos y negativos.</a:t>
                      </a:r>
                    </a:p>
                  </a:txBody>
                  <a:tcPr marL="91440" marR="91440" marT="27432" marB="27432" anchor="ctr">
                    <a:solidFill>
                      <a:srgbClr val="FFFE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1F2328"/>
                          </a:solidFill>
                          <a:latin typeface="Segoe UI Semibold"/>
                        </a:rPr>
                        <a:t>Interfaz</a:t>
                      </a:r>
                    </a:p>
                  </a:txBody>
                  <a:tcPr marL="91440" marR="91440" marT="27432" marB="27432" anchor="ctr">
                    <a:solidFill>
                      <a:srgbClr val="EFEC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1F2328"/>
                          </a:solidFill>
                          <a:latin typeface="Segoe UI"/>
                        </a:rPr>
                        <a:t>Terminal e informe HTML con filtros; JSON, SARIF y JUnit para CI.</a:t>
                      </a:r>
                    </a:p>
                  </a:txBody>
                  <a:tcPr marL="91440" marR="91440" marT="27432" marB="27432" anchor="ctr">
                    <a:solidFill>
                      <a:srgbClr val="EFECE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846320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2B5C99"/>
                </a:solidFill>
                <a:latin typeface="Segoe UI Semibold"/>
              </a:rPr>
              <a:t>Conclusiones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230368"/>
            <a:ext cx="7132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3D4248"/>
                </a:solidFill>
                <a:latin typeface="Segoe UI"/>
              </a:rPr>
              <a:t>En 5 s encontró un SQLi real y 34 hallazgos más; corregir el código los llevó a 0.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3D4248"/>
                </a:solidFill>
                <a:latin typeface="Segoe UI"/>
              </a:rPr>
              <a:t>Úsalo en CI (Action oficial) y atiende primero severidad alta con confianza alta.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3D4248"/>
                </a:solidFill>
                <a:latin typeface="Segoe UI"/>
              </a:rPr>
              <a:t>No reemplaza DAST ni la revisión: no vio el IDOR ni los secretos de config.json.</a:t>
            </a:r>
          </a:p>
        </p:txBody>
      </p:sp>
      <p:pic>
        <p:nvPicPr>
          <p:cNvPr id="10" name="Picture 9" descr="Panel de filtros y resumen del informe HTML de gose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691640"/>
            <a:ext cx="2377440" cy="4271962"/>
          </a:xfrm>
          <a:prstGeom prst="rect">
            <a:avLst/>
          </a:prstGeom>
          <a:ln>
            <a:solidFill>
              <a:srgbClr val="DCD8C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138160" y="603504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5F66"/>
                </a:solidFill>
                <a:latin typeface="Segoe UI"/>
              </a:rPr>
              <a:t>Informe HTML de gosec (captura real)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5400" b="1">
                <a:solidFill>
                  <a:srgbClr val="1F2328"/>
                </a:solidFill>
                <a:latin typeface="Segoe UI Semibold"/>
              </a:rPr>
              <a:t>Preguntas y dudas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3108960" y="3749039"/>
            <a:ext cx="5943600" cy="64008"/>
          </a:xfrm>
          <a:prstGeom prst="rect">
            <a:avLst/>
          </a:prstGeom>
          <a:solidFill>
            <a:srgbClr val="2B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4114800"/>
            <a:ext cx="9052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900" b="0">
                <a:solidFill>
                  <a:srgbClr val="3D4248"/>
                </a:solidFill>
                <a:latin typeface="Segoe UI"/>
              </a:rPr>
              <a:t>Todo es reproducible: carpeta Guia 7/Gosec del repositorio.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900" b="0">
                <a:solidFill>
                  <a:srgbClr val="3D4248"/>
                </a:solidFill>
                <a:latin typeface="Segoe UI"/>
              </a:rPr>
              <a:t>Scripts, resultados reales, código propio y esta presentación.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5F66"/>
                </a:solidFill>
                <a:latin typeface="Segoe UI"/>
              </a:rPr>
              <a:t>gosec v2.30.0  ·  Guía 7  ·  Desarrollo de Software Seguro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941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B5F66"/>
                </a:solidFill>
                <a:latin typeface="Segoe U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estático de seguridad (SAST) con gosec</dc:title>
  <dc:subject/>
  <dc:creator>Cobos, Dilan Steven; Rodríguez Ángel, Santiago; Alarcón Ospina, Víctor Alfonso</dc:creator>
  <cp:keywords/>
  <dc:description>generated using python-pptx</dc:description>
  <cp:lastModifiedBy>Cobos, Dilan Steven; Rodríguez Ángel, Santiago; Alarcón Ospina, Víctor Alfonso</cp:lastModifiedBy>
  <cp:revision>1</cp:revision>
  <dcterms:created xsi:type="dcterms:W3CDTF">2013-01-27T09:14:16Z</dcterms:created>
  <dcterms:modified xsi:type="dcterms:W3CDTF">2013-01-27T09:15:58Z</dcterms:modified>
  <cp:category/>
</cp:coreProperties>
</file>