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2" r:id="rId7"/>
    <p:sldId id="263" r:id="rId8"/>
    <p:sldId id="264"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1380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Presentar el tema: A06:2025 Insecure Design, el riesgo número 6 del OWASP Top 10 de 2025. Es un riesgo de DISEÑO, no de código.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¿Qué es? Es una categoría amplia: controles que faltan o son ineficaces EN EL DISEÑO. Bajó del puesto 4 al 6, pero porque A02 y A03 la superaron y porque la industria mejoró en threat modeling.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Idea central: diseño inseguro NO es lo mismo que implementación insegura. Tienen distinta causa raíz, ocurren en momentos distintos y se corrigen distinto. Un diseño seguro puede tener bugs, pero una implementación perfecta no arregla un control que nunca se diseñó.</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tener un diseño seguro hacen falta tres partes: requisitos y recursos, diseño seguro (threat modeling) y un ciclo de desarrollo seguro.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real: en 2008 un atacante tomó el correo Yahoo de Sarah Palin, entonces candidata a la vicepresidencia de EE. UU. Usó datos públicos (fecha de nacimiento, colegio) para pasar el flujo de recuperación de contraseña. Es exactamente el Escenario #1 de OWASP: las preguntas secretas no prueban identidad porque más de una persona conoce las respuestas. Fuente: Wikipedia, 'Sarah Palin email hack'.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Ejemplo principal (Escenario #2 de OWASP): una cadena de cines da descuento a grupos y exige depósito si son más de 15 asistentes. Si el atacante hace threat modeling del flujo, puede reservar 600 asientos en todos los cines en pocas peticiones. Nada en el diseño limitaba el total.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Código ilustrativo escrito por nosotros (no es de la página de OWASP). El código 'funciona', pero la regla de negocio de los 15 asientos y el depósito nunca se aplica en el servidor. No hay bug de sintaxis: falta el control.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Corrección ilustrativa: la regla de negocio pasa a ser parte del diseño y se aplica en el servidor: tope por reserva, tope de reservas activas por usuario, depósito si excede, y retención con expiración. Además se debería probar con casos de abuso (misuse cases).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prevenir, según OWASP: ciclo de desarrollo seguro con profesionales de AppSec, librería de patrones de diseño seguro, threat modeling en autenticación, control de acceso y lógica de negocio, requisitos de seguridad en historias de usuario, pruebas con casos de uso y de abuso, y segregación de capas y de inquilinos.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Conclusión: el diseño inseguro se corrige antes de escribir código. Cerrar con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pic>
        <p:nvPicPr>
          <p:cNvPr id="2" name="Picture 1" descr="logo_umb.png"/>
          <p:cNvPicPr>
            <a:picLocks noChangeAspect="1"/>
          </p:cNvPicPr>
          <p:nvPr/>
        </p:nvPicPr>
        <p:blipFill>
          <a:blip r:embed="rId3"/>
          <a:stretch>
            <a:fillRect/>
          </a:stretch>
        </p:blipFill>
        <p:spPr>
          <a:xfrm>
            <a:off x="640080" y="502920"/>
            <a:ext cx="2492188" cy="685800"/>
          </a:xfrm>
          <a:prstGeom prst="rect">
            <a:avLst/>
          </a:prstGeom>
        </p:spPr>
      </p:pic>
      <p:sp>
        <p:nvSpPr>
          <p:cNvPr id="3" name="TextBox 2"/>
          <p:cNvSpPr txBox="1"/>
          <p:nvPr/>
        </p:nvSpPr>
        <p:spPr>
          <a:xfrm>
            <a:off x="685800" y="1828800"/>
            <a:ext cx="5943600" cy="365760"/>
          </a:xfrm>
          <a:prstGeom prst="rect">
            <a:avLst/>
          </a:prstGeom>
          <a:noFill/>
        </p:spPr>
        <p:txBody>
          <a:bodyPr wrap="square" lIns="0" tIns="0" rIns="0" bIns="0" anchor="t">
            <a:spAutoFit/>
          </a:bodyPr>
          <a:lstStyle/>
          <a:p>
            <a:pPr algn="l">
              <a:lnSpc>
                <a:spcPct val="112000"/>
              </a:lnSpc>
              <a:spcAft>
                <a:spcPts val="0"/>
              </a:spcAft>
            </a:pPr>
            <a:r>
              <a:rPr sz="1400" b="1" i="0">
                <a:solidFill>
                  <a:srgbClr val="2B5C99"/>
                </a:solidFill>
                <a:latin typeface="Segoe UI"/>
              </a:rPr>
              <a:t>OWASP TOP 10  ·  2025</a:t>
            </a:r>
          </a:p>
        </p:txBody>
      </p:sp>
      <p:sp>
        <p:nvSpPr>
          <p:cNvPr id="4" name="TextBox 3"/>
          <p:cNvSpPr txBox="1"/>
          <p:nvPr/>
        </p:nvSpPr>
        <p:spPr>
          <a:xfrm>
            <a:off x="685800" y="2240280"/>
            <a:ext cx="6035040" cy="2011680"/>
          </a:xfrm>
          <a:prstGeom prst="rect">
            <a:avLst/>
          </a:prstGeom>
          <a:noFill/>
        </p:spPr>
        <p:txBody>
          <a:bodyPr wrap="square" lIns="0" tIns="0" rIns="0" bIns="0" anchor="t">
            <a:spAutoFit/>
          </a:bodyPr>
          <a:lstStyle/>
          <a:p>
            <a:pPr algn="l">
              <a:lnSpc>
                <a:spcPct val="100000"/>
              </a:lnSpc>
              <a:spcAft>
                <a:spcPts val="0"/>
              </a:spcAft>
            </a:pPr>
            <a:r>
              <a:rPr sz="4800" b="1" i="0">
                <a:solidFill>
                  <a:srgbClr val="1F2328"/>
                </a:solidFill>
                <a:latin typeface="Segoe UI"/>
              </a:rPr>
              <a:t>A06:2025</a:t>
            </a:r>
          </a:p>
          <a:p>
            <a:pPr algn="l">
              <a:lnSpc>
                <a:spcPct val="100000"/>
              </a:lnSpc>
              <a:spcAft>
                <a:spcPts val="0"/>
              </a:spcAft>
            </a:pPr>
            <a:r>
              <a:rPr sz="4800" b="1" i="0">
                <a:solidFill>
                  <a:srgbClr val="1F2328"/>
                </a:solidFill>
                <a:latin typeface="Segoe UI"/>
              </a:rPr>
              <a:t>Insecure Design</a:t>
            </a:r>
          </a:p>
        </p:txBody>
      </p:sp>
      <p:sp>
        <p:nvSpPr>
          <p:cNvPr id="5" name="Rectangle 4"/>
          <p:cNvSpPr/>
          <p:nvPr/>
        </p:nvSpPr>
        <p:spPr>
          <a:xfrm>
            <a:off x="713232" y="4069080"/>
            <a:ext cx="1005840" cy="54864"/>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297680"/>
            <a:ext cx="5669280" cy="914400"/>
          </a:xfrm>
          <a:prstGeom prst="rect">
            <a:avLst/>
          </a:prstGeom>
          <a:noFill/>
        </p:spPr>
        <p:txBody>
          <a:bodyPr wrap="square" lIns="0" tIns="0" rIns="0" bIns="0" anchor="t">
            <a:spAutoFit/>
          </a:bodyPr>
          <a:lstStyle/>
          <a:p>
            <a:pPr algn="l">
              <a:lnSpc>
                <a:spcPct val="120000"/>
              </a:lnSpc>
              <a:spcAft>
                <a:spcPts val="0"/>
              </a:spcAft>
            </a:pPr>
            <a:r>
              <a:rPr sz="1900" b="0" i="0">
                <a:solidFill>
                  <a:srgbClr val="5F6368"/>
                </a:solidFill>
                <a:latin typeface="Segoe UI"/>
              </a:rPr>
              <a:t>Missing or ineffective control design: when the flaw is in the blueprint, not in the code.</a:t>
            </a:r>
          </a:p>
        </p:txBody>
      </p:sp>
      <p:pic>
        <p:nvPicPr>
          <p:cNvPr id="8" name="Picture 7" descr="Architectural blueprint with a missing wall segment marked No control designed"/>
          <p:cNvPicPr>
            <a:picLocks noChangeAspect="1"/>
          </p:cNvPicPr>
          <p:nvPr/>
        </p:nvPicPr>
        <p:blipFill>
          <a:blip r:embed="rId4"/>
          <a:srcRect l="33500" r="4500"/>
          <a:stretch>
            <a:fillRect/>
          </a:stretch>
        </p:blipFill>
        <p:spPr>
          <a:xfrm>
            <a:off x="6812280" y="0"/>
            <a:ext cx="5379415" cy="6858000"/>
          </a:xfrm>
          <a:prstGeom prst="rect">
            <a:avLst/>
          </a:prstGeom>
          <a:ln w="12700">
            <a:solidFill>
              <a:srgbClr val="E0DDD6"/>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DEFINITION</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What is this vulnerability?</a:t>
            </a:r>
          </a:p>
        </p:txBody>
      </p:sp>
      <p:sp>
        <p:nvSpPr>
          <p:cNvPr id="5" name="TextBox 4"/>
          <p:cNvSpPr txBox="1"/>
          <p:nvPr/>
        </p:nvSpPr>
        <p:spPr>
          <a:xfrm>
            <a:off x="777240" y="1783080"/>
            <a:ext cx="5760720" cy="1371600"/>
          </a:xfrm>
          <a:prstGeom prst="rect">
            <a:avLst/>
          </a:prstGeom>
          <a:noFill/>
        </p:spPr>
        <p:txBody>
          <a:bodyPr wrap="square" lIns="0" tIns="0" rIns="0" bIns="0" anchor="t">
            <a:spAutoFit/>
          </a:bodyPr>
          <a:lstStyle/>
          <a:p>
            <a:pPr algn="l">
              <a:lnSpc>
                <a:spcPct val="120000"/>
              </a:lnSpc>
              <a:spcAft>
                <a:spcPts val="0"/>
              </a:spcAft>
            </a:pPr>
            <a:r>
              <a:rPr sz="1700" b="1" i="0">
                <a:solidFill>
                  <a:srgbClr val="1F2328"/>
                </a:solidFill>
                <a:latin typeface="Segoe UI"/>
              </a:rPr>
              <a:t>Insecure Design</a:t>
            </a:r>
            <a:r>
              <a:rPr sz="1700" b="0" i="0">
                <a:solidFill>
                  <a:srgbClr val="5F6368"/>
                </a:solidFill>
                <a:latin typeface="Segoe UI"/>
              </a:rPr>
              <a:t> is a broad category of weaknesses described as </a:t>
            </a:r>
            <a:r>
              <a:rPr sz="1700" b="1" i="0">
                <a:solidFill>
                  <a:srgbClr val="1F2328"/>
                </a:solidFill>
                <a:latin typeface="Segoe UI"/>
              </a:rPr>
              <a:t>“missing or ineffective control design”.</a:t>
            </a:r>
            <a:r>
              <a:rPr sz="1700" b="0" i="0">
                <a:solidFill>
                  <a:srgbClr val="5F6368"/>
                </a:solidFill>
                <a:latin typeface="Segoe UI"/>
              </a:rPr>
              <a:t> The system works as designed, but the design never included the protection needed.</a:t>
            </a:r>
          </a:p>
        </p:txBody>
      </p:sp>
      <p:sp>
        <p:nvSpPr>
          <p:cNvPr id="6" name="Rounded Rectangle 5"/>
          <p:cNvSpPr/>
          <p:nvPr/>
        </p:nvSpPr>
        <p:spPr>
          <a:xfrm>
            <a:off x="777240" y="3264408"/>
            <a:ext cx="182880" cy="182880"/>
          </a:xfrm>
          <a:prstGeom prst="roundRect">
            <a:avLst>
              <a:gd name="adj" fmla="val 20000"/>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200400"/>
            <a:ext cx="5394960" cy="365760"/>
          </a:xfrm>
          <a:prstGeom prst="rect">
            <a:avLst/>
          </a:prstGeom>
          <a:noFill/>
        </p:spPr>
        <p:txBody>
          <a:bodyPr wrap="square" lIns="0" tIns="0" rIns="0" bIns="0" anchor="t">
            <a:spAutoFit/>
          </a:bodyPr>
          <a:lstStyle/>
          <a:p>
            <a:pPr algn="l">
              <a:lnSpc>
                <a:spcPct val="112000"/>
              </a:lnSpc>
              <a:spcAft>
                <a:spcPts val="0"/>
              </a:spcAft>
            </a:pPr>
            <a:r>
              <a:rPr sz="1700" b="1" i="0">
                <a:solidFill>
                  <a:srgbClr val="1F2328"/>
                </a:solidFill>
                <a:latin typeface="Segoe UI"/>
              </a:rPr>
              <a:t>Architecture flaws</a:t>
            </a:r>
          </a:p>
        </p:txBody>
      </p:sp>
      <p:sp>
        <p:nvSpPr>
          <p:cNvPr id="8" name="TextBox 7"/>
          <p:cNvSpPr txBox="1"/>
          <p:nvPr/>
        </p:nvSpPr>
        <p:spPr>
          <a:xfrm>
            <a:off x="1188720" y="3547872"/>
            <a:ext cx="5394960" cy="548640"/>
          </a:xfrm>
          <a:prstGeom prst="rect">
            <a:avLst/>
          </a:prstGeom>
          <a:noFill/>
        </p:spPr>
        <p:txBody>
          <a:bodyPr wrap="square" lIns="0" tIns="0" rIns="0" bIns="0" anchor="t">
            <a:spAutoFit/>
          </a:bodyPr>
          <a:lstStyle/>
          <a:p>
            <a:pPr algn="l">
              <a:lnSpc>
                <a:spcPct val="112000"/>
              </a:lnSpc>
              <a:spcAft>
                <a:spcPts val="0"/>
              </a:spcAft>
            </a:pPr>
            <a:r>
              <a:rPr sz="1400" b="0" i="0">
                <a:solidFill>
                  <a:srgbClr val="5F6368"/>
                </a:solidFill>
                <a:latin typeface="Segoe UI"/>
              </a:rPr>
              <a:t>Risks that come from design and architecture decisions, made before any code exists.</a:t>
            </a:r>
          </a:p>
        </p:txBody>
      </p:sp>
      <p:sp>
        <p:nvSpPr>
          <p:cNvPr id="9" name="Rounded Rectangle 8"/>
          <p:cNvSpPr/>
          <p:nvPr/>
        </p:nvSpPr>
        <p:spPr>
          <a:xfrm>
            <a:off x="777240" y="4160520"/>
            <a:ext cx="182880" cy="182880"/>
          </a:xfrm>
          <a:prstGeom prst="roundRect">
            <a:avLst>
              <a:gd name="adj" fmla="val 20000"/>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4096512"/>
            <a:ext cx="5394960" cy="365760"/>
          </a:xfrm>
          <a:prstGeom prst="rect">
            <a:avLst/>
          </a:prstGeom>
          <a:noFill/>
        </p:spPr>
        <p:txBody>
          <a:bodyPr wrap="square" lIns="0" tIns="0" rIns="0" bIns="0" anchor="t">
            <a:spAutoFit/>
          </a:bodyPr>
          <a:lstStyle/>
          <a:p>
            <a:pPr algn="l">
              <a:lnSpc>
                <a:spcPct val="112000"/>
              </a:lnSpc>
              <a:spcAft>
                <a:spcPts val="0"/>
              </a:spcAft>
            </a:pPr>
            <a:r>
              <a:rPr sz="1700" b="1" i="0">
                <a:solidFill>
                  <a:srgbClr val="1F2328"/>
                </a:solidFill>
                <a:latin typeface="Segoe UI"/>
              </a:rPr>
              <a:t>Business-logic flaws</a:t>
            </a:r>
          </a:p>
        </p:txBody>
      </p:sp>
      <p:sp>
        <p:nvSpPr>
          <p:cNvPr id="11" name="TextBox 10"/>
          <p:cNvSpPr txBox="1"/>
          <p:nvPr/>
        </p:nvSpPr>
        <p:spPr>
          <a:xfrm>
            <a:off x="1188720" y="4443984"/>
            <a:ext cx="5394960" cy="548640"/>
          </a:xfrm>
          <a:prstGeom prst="rect">
            <a:avLst/>
          </a:prstGeom>
          <a:noFill/>
        </p:spPr>
        <p:txBody>
          <a:bodyPr wrap="square" lIns="0" tIns="0" rIns="0" bIns="0" anchor="t">
            <a:spAutoFit/>
          </a:bodyPr>
          <a:lstStyle/>
          <a:p>
            <a:pPr algn="l">
              <a:lnSpc>
                <a:spcPct val="112000"/>
              </a:lnSpc>
              <a:spcAft>
                <a:spcPts val="0"/>
              </a:spcAft>
            </a:pPr>
            <a:r>
              <a:rPr sz="1400" b="0" i="0">
                <a:solidFill>
                  <a:srgbClr val="5F6368"/>
                </a:solidFill>
                <a:latin typeface="Segoe UI"/>
              </a:rPr>
              <a:t>No definition of unwanted or unexpected state changes inside the application.</a:t>
            </a:r>
          </a:p>
        </p:txBody>
      </p:sp>
      <p:sp>
        <p:nvSpPr>
          <p:cNvPr id="12" name="Rounded Rectangle 11"/>
          <p:cNvSpPr/>
          <p:nvPr/>
        </p:nvSpPr>
        <p:spPr>
          <a:xfrm>
            <a:off x="777240" y="5056632"/>
            <a:ext cx="182880" cy="182880"/>
          </a:xfrm>
          <a:prstGeom prst="roundRect">
            <a:avLst>
              <a:gd name="adj" fmla="val 20000"/>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4992624"/>
            <a:ext cx="5394960" cy="365760"/>
          </a:xfrm>
          <a:prstGeom prst="rect">
            <a:avLst/>
          </a:prstGeom>
          <a:noFill/>
        </p:spPr>
        <p:txBody>
          <a:bodyPr wrap="square" lIns="0" tIns="0" rIns="0" bIns="0" anchor="t">
            <a:spAutoFit/>
          </a:bodyPr>
          <a:lstStyle/>
          <a:p>
            <a:pPr algn="l">
              <a:lnSpc>
                <a:spcPct val="112000"/>
              </a:lnSpc>
              <a:spcAft>
                <a:spcPts val="0"/>
              </a:spcAft>
            </a:pPr>
            <a:r>
              <a:rPr sz="1700" b="1" i="0">
                <a:solidFill>
                  <a:srgbClr val="1F2328"/>
                </a:solidFill>
                <a:latin typeface="Segoe UI"/>
              </a:rPr>
              <a:t>Missing practices</a:t>
            </a:r>
          </a:p>
        </p:txBody>
      </p:sp>
      <p:sp>
        <p:nvSpPr>
          <p:cNvPr id="14" name="TextBox 13"/>
          <p:cNvSpPr txBox="1"/>
          <p:nvPr/>
        </p:nvSpPr>
        <p:spPr>
          <a:xfrm>
            <a:off x="1188720" y="5340096"/>
            <a:ext cx="5394960" cy="548640"/>
          </a:xfrm>
          <a:prstGeom prst="rect">
            <a:avLst/>
          </a:prstGeom>
          <a:noFill/>
        </p:spPr>
        <p:txBody>
          <a:bodyPr wrap="square" lIns="0" tIns="0" rIns="0" bIns="0" anchor="t">
            <a:spAutoFit/>
          </a:bodyPr>
          <a:lstStyle/>
          <a:p>
            <a:pPr algn="l">
              <a:lnSpc>
                <a:spcPct val="112000"/>
              </a:lnSpc>
              <a:spcAft>
                <a:spcPts val="0"/>
              </a:spcAft>
            </a:pPr>
            <a:r>
              <a:rPr sz="1400" b="0" i="0">
                <a:solidFill>
                  <a:srgbClr val="5F6368"/>
                </a:solidFill>
                <a:latin typeface="Segoe UI"/>
              </a:rPr>
              <a:t>Little threat modeling, no secure design patterns, no reference architectures.</a:t>
            </a:r>
          </a:p>
        </p:txBody>
      </p:sp>
      <p:pic>
        <p:nvPicPr>
          <p:cNvPr id="15" name="Picture 14" descr="Blueprint with a missing wall: a design with no control"/>
          <p:cNvPicPr>
            <a:picLocks noChangeAspect="1"/>
          </p:cNvPicPr>
          <p:nvPr/>
        </p:nvPicPr>
        <p:blipFill>
          <a:blip r:embed="rId3"/>
          <a:stretch>
            <a:fillRect/>
          </a:stretch>
        </p:blipFill>
        <p:spPr>
          <a:xfrm>
            <a:off x="6949440" y="1783080"/>
            <a:ext cx="4663440" cy="3664131"/>
          </a:xfrm>
          <a:prstGeom prst="rect">
            <a:avLst/>
          </a:prstGeom>
          <a:ln w="12700">
            <a:solidFill>
              <a:srgbClr val="E0DDD6"/>
            </a:solidFill>
          </a:ln>
        </p:spPr>
      </p:pic>
      <p:sp>
        <p:nvSpPr>
          <p:cNvPr id="16" name="Rounded Rectangle 15"/>
          <p:cNvSpPr/>
          <p:nvPr/>
        </p:nvSpPr>
        <p:spPr>
          <a:xfrm>
            <a:off x="777240" y="5943600"/>
            <a:ext cx="10835640" cy="548640"/>
          </a:xfrm>
          <a:prstGeom prst="roundRect">
            <a:avLst>
              <a:gd name="adj" fmla="val 10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5943600"/>
            <a:ext cx="64008" cy="54864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5943600"/>
            <a:ext cx="10378440" cy="548640"/>
          </a:xfrm>
          <a:prstGeom prst="rect">
            <a:avLst/>
          </a:prstGeom>
          <a:noFill/>
        </p:spPr>
        <p:txBody>
          <a:bodyPr wrap="square" lIns="0" tIns="0" rIns="0" bIns="0" anchor="ctr">
            <a:spAutoFit/>
          </a:bodyPr>
          <a:lstStyle/>
          <a:p>
            <a:pPr algn="l">
              <a:lnSpc>
                <a:spcPct val="112000"/>
              </a:lnSpc>
              <a:spcAft>
                <a:spcPts val="0"/>
              </a:spcAft>
            </a:pPr>
            <a:r>
              <a:rPr sz="1500" b="1" i="0">
                <a:solidFill>
                  <a:srgbClr val="2B5C99"/>
                </a:solidFill>
                <a:latin typeface="Segoe UI"/>
              </a:rPr>
              <a:t>Ranking: </a:t>
            </a:r>
            <a:r>
              <a:rPr sz="1500" b="0" i="0">
                <a:solidFill>
                  <a:srgbClr val="1F2328"/>
                </a:solidFill>
                <a:latin typeface="Segoe UI"/>
              </a:rPr>
              <a:t>introduced in 2021 at #4; now #6, as A02 and A03 moved above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CORE CONCEPT</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Design flaw vs. implementation bug</a:t>
            </a:r>
          </a:p>
        </p:txBody>
      </p:sp>
      <p:pic>
        <p:nvPicPr>
          <p:cNvPr id="5" name="Picture 4" descr="A perfect padlock on a brick wall next to a huge hole: a perfect implementation cannot fix a missing control"/>
          <p:cNvPicPr>
            <a:picLocks noChangeAspect="1"/>
          </p:cNvPicPr>
          <p:nvPr/>
        </p:nvPicPr>
        <p:blipFill>
          <a:blip r:embed="rId3"/>
          <a:stretch>
            <a:fillRect/>
          </a:stretch>
        </p:blipFill>
        <p:spPr>
          <a:xfrm>
            <a:off x="777240" y="1783080"/>
            <a:ext cx="4206240" cy="3154680"/>
          </a:xfrm>
          <a:prstGeom prst="rect">
            <a:avLst/>
          </a:prstGeom>
          <a:ln w="12700">
            <a:solidFill>
              <a:srgbClr val="E0DDD6"/>
            </a:solidFill>
          </a:ln>
        </p:spPr>
      </p:pic>
      <p:sp>
        <p:nvSpPr>
          <p:cNvPr id="6" name="Rounded Rectangle 5"/>
          <p:cNvSpPr/>
          <p:nvPr/>
        </p:nvSpPr>
        <p:spPr>
          <a:xfrm>
            <a:off x="5257800" y="1783080"/>
            <a:ext cx="3154680" cy="324612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257800" y="1783080"/>
            <a:ext cx="3154680" cy="64008"/>
          </a:xfrm>
          <a:prstGeom prst="rect">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2120" y="2057400"/>
            <a:ext cx="2606040" cy="457200"/>
          </a:xfrm>
          <a:prstGeom prst="rect">
            <a:avLst/>
          </a:prstGeom>
          <a:noFill/>
        </p:spPr>
        <p:txBody>
          <a:bodyPr wrap="square" lIns="0" tIns="0" rIns="0" bIns="0" anchor="t">
            <a:spAutoFit/>
          </a:bodyPr>
          <a:lstStyle/>
          <a:p>
            <a:pPr algn="l">
              <a:lnSpc>
                <a:spcPct val="112000"/>
              </a:lnSpc>
              <a:spcAft>
                <a:spcPts val="0"/>
              </a:spcAft>
            </a:pPr>
            <a:r>
              <a:rPr sz="1800" b="1" i="0">
                <a:solidFill>
                  <a:srgbClr val="1F2328"/>
                </a:solidFill>
                <a:latin typeface="Segoe UI"/>
              </a:rPr>
              <a:t>Design flaw</a:t>
            </a:r>
          </a:p>
        </p:txBody>
      </p:sp>
      <p:sp>
        <p:nvSpPr>
          <p:cNvPr id="9" name="TextBox 8"/>
          <p:cNvSpPr txBox="1"/>
          <p:nvPr/>
        </p:nvSpPr>
        <p:spPr>
          <a:xfrm>
            <a:off x="5532120" y="2606040"/>
            <a:ext cx="2606040" cy="2331720"/>
          </a:xfrm>
          <a:prstGeom prst="rect">
            <a:avLst/>
          </a:prstGeom>
          <a:noFill/>
        </p:spPr>
        <p:txBody>
          <a:bodyPr wrap="square" lIns="0" tIns="0" rIns="0" bIns="0" anchor="t">
            <a:spAutoFit/>
          </a:bodyPr>
          <a:lstStyle/>
          <a:p>
            <a:pPr algn="l">
              <a:lnSpc>
                <a:spcPct val="115000"/>
              </a:lnSpc>
              <a:spcAft>
                <a:spcPts val="600"/>
              </a:spcAft>
            </a:pPr>
            <a:r>
              <a:rPr sz="1450" b="0" i="0">
                <a:solidFill>
                  <a:srgbClr val="5F6368"/>
                </a:solidFill>
                <a:latin typeface="Segoe UI"/>
              </a:rPr>
              <a:t>The control was never created.</a:t>
            </a:r>
          </a:p>
          <a:p>
            <a:pPr algn="l">
              <a:lnSpc>
                <a:spcPct val="115000"/>
              </a:lnSpc>
              <a:spcAft>
                <a:spcPts val="600"/>
              </a:spcAft>
            </a:pPr>
            <a:r>
              <a:rPr sz="1450" b="0" i="0">
                <a:solidFill>
                  <a:srgbClr val="5F6368"/>
                </a:solidFill>
                <a:latin typeface="Segoe UI"/>
              </a:rPr>
              <a:t>Root cause: missing requirements or threat model.</a:t>
            </a:r>
          </a:p>
          <a:p>
            <a:pPr algn="l">
              <a:lnSpc>
                <a:spcPct val="115000"/>
              </a:lnSpc>
              <a:spcAft>
                <a:spcPts val="600"/>
              </a:spcAft>
            </a:pPr>
            <a:r>
              <a:rPr sz="1450" b="0" i="0">
                <a:solidFill>
                  <a:srgbClr val="5F6368"/>
                </a:solidFill>
                <a:latin typeface="Segoe UI"/>
              </a:rPr>
              <a:t>Found at: requirements and design.</a:t>
            </a:r>
          </a:p>
          <a:p>
            <a:pPr algn="l">
              <a:lnSpc>
                <a:spcPct val="115000"/>
              </a:lnSpc>
              <a:spcAft>
                <a:spcPts val="600"/>
              </a:spcAft>
            </a:pPr>
            <a:r>
              <a:rPr sz="1450" b="0" i="0">
                <a:solidFill>
                  <a:srgbClr val="5F6368"/>
                </a:solidFill>
                <a:latin typeface="Segoe UI"/>
              </a:rPr>
              <a:t>Fix: redesign the flow.</a:t>
            </a:r>
          </a:p>
        </p:txBody>
      </p:sp>
      <p:sp>
        <p:nvSpPr>
          <p:cNvPr id="10" name="Rounded Rectangle 9"/>
          <p:cNvSpPr/>
          <p:nvPr/>
        </p:nvSpPr>
        <p:spPr>
          <a:xfrm>
            <a:off x="8595360" y="1783080"/>
            <a:ext cx="3017520" cy="324612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95360" y="1783080"/>
            <a:ext cx="3017520" cy="64008"/>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0" y="2057400"/>
            <a:ext cx="2468879" cy="457200"/>
          </a:xfrm>
          <a:prstGeom prst="rect">
            <a:avLst/>
          </a:prstGeom>
          <a:noFill/>
        </p:spPr>
        <p:txBody>
          <a:bodyPr wrap="square" lIns="0" tIns="0" rIns="0" bIns="0" anchor="t">
            <a:spAutoFit/>
          </a:bodyPr>
          <a:lstStyle/>
          <a:p>
            <a:pPr algn="l">
              <a:lnSpc>
                <a:spcPct val="112000"/>
              </a:lnSpc>
              <a:spcAft>
                <a:spcPts val="0"/>
              </a:spcAft>
            </a:pPr>
            <a:r>
              <a:rPr sz="1800" b="1" i="0">
                <a:solidFill>
                  <a:srgbClr val="1F2328"/>
                </a:solidFill>
                <a:latin typeface="Segoe UI"/>
              </a:rPr>
              <a:t>Implementation bug</a:t>
            </a:r>
          </a:p>
        </p:txBody>
      </p:sp>
      <p:sp>
        <p:nvSpPr>
          <p:cNvPr id="13" name="TextBox 12"/>
          <p:cNvSpPr txBox="1"/>
          <p:nvPr/>
        </p:nvSpPr>
        <p:spPr>
          <a:xfrm>
            <a:off x="8869680" y="2606040"/>
            <a:ext cx="2468879" cy="2331720"/>
          </a:xfrm>
          <a:prstGeom prst="rect">
            <a:avLst/>
          </a:prstGeom>
          <a:noFill/>
        </p:spPr>
        <p:txBody>
          <a:bodyPr wrap="square" lIns="0" tIns="0" rIns="0" bIns="0" anchor="t">
            <a:spAutoFit/>
          </a:bodyPr>
          <a:lstStyle/>
          <a:p>
            <a:pPr algn="l">
              <a:lnSpc>
                <a:spcPct val="115000"/>
              </a:lnSpc>
              <a:spcAft>
                <a:spcPts val="600"/>
              </a:spcAft>
            </a:pPr>
            <a:r>
              <a:rPr sz="1450" b="0" i="0">
                <a:solidFill>
                  <a:srgbClr val="5F6368"/>
                </a:solidFill>
                <a:latin typeface="Segoe UI"/>
              </a:rPr>
              <a:t>The control exists but is coded wrongly.</a:t>
            </a:r>
          </a:p>
          <a:p>
            <a:pPr algn="l">
              <a:lnSpc>
                <a:spcPct val="115000"/>
              </a:lnSpc>
              <a:spcAft>
                <a:spcPts val="600"/>
              </a:spcAft>
            </a:pPr>
            <a:r>
              <a:rPr sz="1450" b="0" i="0">
                <a:solidFill>
                  <a:srgbClr val="5F6368"/>
                </a:solidFill>
                <a:latin typeface="Segoe UI"/>
              </a:rPr>
              <a:t>Root cause: a coding defect.</a:t>
            </a:r>
          </a:p>
          <a:p>
            <a:pPr algn="l">
              <a:lnSpc>
                <a:spcPct val="115000"/>
              </a:lnSpc>
              <a:spcAft>
                <a:spcPts val="600"/>
              </a:spcAft>
            </a:pPr>
            <a:r>
              <a:rPr sz="1450" b="0" i="0">
                <a:solidFill>
                  <a:srgbClr val="5F6368"/>
                </a:solidFill>
                <a:latin typeface="Segoe UI"/>
              </a:rPr>
              <a:t>Found at: development and testing.</a:t>
            </a:r>
          </a:p>
          <a:p>
            <a:pPr algn="l">
              <a:lnSpc>
                <a:spcPct val="115000"/>
              </a:lnSpc>
              <a:spcAft>
                <a:spcPts val="600"/>
              </a:spcAft>
            </a:pPr>
            <a:r>
              <a:rPr sz="1450" b="0" i="0">
                <a:solidFill>
                  <a:srgbClr val="5F6368"/>
                </a:solidFill>
                <a:latin typeface="Segoe UI"/>
              </a:rPr>
              <a:t>Fix: patch the code.</a:t>
            </a:r>
          </a:p>
        </p:txBody>
      </p:sp>
      <p:sp>
        <p:nvSpPr>
          <p:cNvPr id="14" name="Rounded Rectangle 13"/>
          <p:cNvSpPr/>
          <p:nvPr/>
        </p:nvSpPr>
        <p:spPr>
          <a:xfrm>
            <a:off x="777240" y="5440680"/>
            <a:ext cx="10835640" cy="777240"/>
          </a:xfrm>
          <a:prstGeom prst="roundRect">
            <a:avLst>
              <a:gd name="adj" fmla="val 10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 y="5440680"/>
            <a:ext cx="64008" cy="77724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5440680"/>
            <a:ext cx="10378440" cy="777240"/>
          </a:xfrm>
          <a:prstGeom prst="rect">
            <a:avLst/>
          </a:prstGeom>
          <a:noFill/>
        </p:spPr>
        <p:txBody>
          <a:bodyPr wrap="square" lIns="0" tIns="0" rIns="0" bIns="0" anchor="ctr">
            <a:spAutoFit/>
          </a:bodyPr>
          <a:lstStyle/>
          <a:p>
            <a:pPr algn="l">
              <a:lnSpc>
                <a:spcPct val="112000"/>
              </a:lnSpc>
              <a:spcAft>
                <a:spcPts val="0"/>
              </a:spcAft>
            </a:pPr>
            <a:r>
              <a:rPr sz="1600" b="1" i="0">
                <a:solidFill>
                  <a:srgbClr val="2B5C99"/>
                </a:solidFill>
                <a:latin typeface="Segoe UI"/>
              </a:rPr>
              <a:t>Key idea: </a:t>
            </a:r>
            <a:r>
              <a:rPr sz="1600" b="0" i="0">
                <a:solidFill>
                  <a:srgbClr val="1F2328"/>
                </a:solidFill>
                <a:latin typeface="Segoe UI"/>
              </a:rPr>
              <a:t>an insecure design cannot be fixed by a perfect implementation, because the needed control was never built.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SECURE BY DESIGN</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The three parts of a secure design</a:t>
            </a:r>
          </a:p>
        </p:txBody>
      </p:sp>
      <p:sp>
        <p:nvSpPr>
          <p:cNvPr id="5" name="Rounded Rectangle 4"/>
          <p:cNvSpPr/>
          <p:nvPr/>
        </p:nvSpPr>
        <p:spPr>
          <a:xfrm>
            <a:off x="777240" y="1783080"/>
            <a:ext cx="3429000" cy="393192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3429000" cy="64008"/>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51560" y="2103120"/>
            <a:ext cx="548640" cy="548640"/>
          </a:xfrm>
          <a:prstGeom prst="roundRect">
            <a:avLst>
              <a:gd name="adj" fmla="val 50000"/>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103120"/>
            <a:ext cx="548640" cy="548640"/>
          </a:xfrm>
          <a:prstGeom prst="rect">
            <a:avLst/>
          </a:prstGeom>
          <a:noFill/>
        </p:spPr>
        <p:txBody>
          <a:bodyPr wrap="square" lIns="0" tIns="0" rIns="0" bIns="0" anchor="ctr">
            <a:spAutoFit/>
          </a:bodyPr>
          <a:lstStyle/>
          <a:p>
            <a:pPr algn="ctr">
              <a:lnSpc>
                <a:spcPct val="112000"/>
              </a:lnSpc>
              <a:spcAft>
                <a:spcPts val="0"/>
              </a:spcAft>
            </a:pPr>
            <a:r>
              <a:rPr sz="2200" b="1" i="0">
                <a:solidFill>
                  <a:srgbClr val="FFFFFF"/>
                </a:solidFill>
                <a:latin typeface="Segoe UI"/>
              </a:rPr>
              <a:t>1</a:t>
            </a:r>
          </a:p>
        </p:txBody>
      </p:sp>
      <p:sp>
        <p:nvSpPr>
          <p:cNvPr id="9" name="TextBox 8"/>
          <p:cNvSpPr txBox="1"/>
          <p:nvPr/>
        </p:nvSpPr>
        <p:spPr>
          <a:xfrm>
            <a:off x="1737360" y="2103120"/>
            <a:ext cx="2286000" cy="548640"/>
          </a:xfrm>
          <a:prstGeom prst="rect">
            <a:avLst/>
          </a:prstGeom>
          <a:noFill/>
        </p:spPr>
        <p:txBody>
          <a:bodyPr wrap="square" lIns="0" tIns="0" rIns="0" bIns="0" anchor="ctr">
            <a:spAutoFit/>
          </a:bodyPr>
          <a:lstStyle/>
          <a:p>
            <a:pPr algn="l">
              <a:lnSpc>
                <a:spcPct val="100000"/>
              </a:lnSpc>
              <a:spcAft>
                <a:spcPts val="0"/>
              </a:spcAft>
            </a:pPr>
            <a:r>
              <a:rPr sz="1700" b="1" i="0">
                <a:solidFill>
                  <a:srgbClr val="1F2328"/>
                </a:solidFill>
                <a:latin typeface="Segoe UI"/>
              </a:rPr>
              <a:t>Requirements &amp; resources</a:t>
            </a:r>
          </a:p>
        </p:txBody>
      </p:sp>
      <p:sp>
        <p:nvSpPr>
          <p:cNvPr id="10" name="TextBox 9"/>
          <p:cNvSpPr txBox="1"/>
          <p:nvPr/>
        </p:nvSpPr>
        <p:spPr>
          <a:xfrm>
            <a:off x="1051560" y="2926080"/>
            <a:ext cx="2926080" cy="2743200"/>
          </a:xfrm>
          <a:prstGeom prst="rect">
            <a:avLst/>
          </a:prstGeom>
          <a:noFill/>
        </p:spPr>
        <p:txBody>
          <a:bodyPr wrap="square" lIns="0" tIns="0" rIns="0" bIns="0" anchor="t">
            <a:spAutoFit/>
          </a:bodyPr>
          <a:lstStyle/>
          <a:p>
            <a:pPr algn="l">
              <a:lnSpc>
                <a:spcPct val="115000"/>
              </a:lnSpc>
              <a:spcAft>
                <a:spcPts val="800"/>
              </a:spcAft>
            </a:pPr>
            <a:r>
              <a:rPr sz="1400" b="0" i="0">
                <a:solidFill>
                  <a:srgbClr val="5F6368"/>
                </a:solidFill>
                <a:latin typeface="Segoe UI"/>
              </a:rPr>
              <a:t>Define protection needs: confidentiality, integrity, availability, authenticity.</a:t>
            </a:r>
          </a:p>
          <a:p>
            <a:pPr algn="l">
              <a:lnSpc>
                <a:spcPct val="115000"/>
              </a:lnSpc>
              <a:spcAft>
                <a:spcPts val="800"/>
              </a:spcAft>
            </a:pPr>
            <a:r>
              <a:rPr sz="1400" b="0" i="0">
                <a:solidFill>
                  <a:srgbClr val="5F6368"/>
                </a:solidFill>
                <a:latin typeface="Segoe UI"/>
              </a:rPr>
              <a:t>Agree on the expected business logic and how exposed the app is.</a:t>
            </a:r>
          </a:p>
          <a:p>
            <a:pPr algn="l">
              <a:lnSpc>
                <a:spcPct val="115000"/>
              </a:lnSpc>
              <a:spcAft>
                <a:spcPts val="800"/>
              </a:spcAft>
            </a:pPr>
            <a:r>
              <a:rPr sz="1400" b="0" i="0">
                <a:solidFill>
                  <a:srgbClr val="5F6368"/>
                </a:solidFill>
                <a:latin typeface="Segoe UI"/>
              </a:rPr>
              <a:t>Budget design, build, test and operation, including security.</a:t>
            </a:r>
          </a:p>
        </p:txBody>
      </p:sp>
      <p:sp>
        <p:nvSpPr>
          <p:cNvPr id="11" name="Rounded Rectangle 10"/>
          <p:cNvSpPr/>
          <p:nvPr/>
        </p:nvSpPr>
        <p:spPr>
          <a:xfrm>
            <a:off x="4434840" y="1783080"/>
            <a:ext cx="3429000" cy="393192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783080"/>
            <a:ext cx="3429000" cy="64008"/>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709159" y="2103120"/>
            <a:ext cx="548640" cy="548640"/>
          </a:xfrm>
          <a:prstGeom prst="roundRect">
            <a:avLst>
              <a:gd name="adj" fmla="val 50000"/>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09159" y="2103120"/>
            <a:ext cx="548640" cy="548640"/>
          </a:xfrm>
          <a:prstGeom prst="rect">
            <a:avLst/>
          </a:prstGeom>
          <a:noFill/>
        </p:spPr>
        <p:txBody>
          <a:bodyPr wrap="square" lIns="0" tIns="0" rIns="0" bIns="0" anchor="ctr">
            <a:spAutoFit/>
          </a:bodyPr>
          <a:lstStyle/>
          <a:p>
            <a:pPr algn="ctr">
              <a:lnSpc>
                <a:spcPct val="112000"/>
              </a:lnSpc>
              <a:spcAft>
                <a:spcPts val="0"/>
              </a:spcAft>
            </a:pPr>
            <a:r>
              <a:rPr sz="2200" b="1" i="0">
                <a:solidFill>
                  <a:srgbClr val="FFFFFF"/>
                </a:solidFill>
                <a:latin typeface="Segoe UI"/>
              </a:rPr>
              <a:t>2</a:t>
            </a:r>
          </a:p>
        </p:txBody>
      </p:sp>
      <p:sp>
        <p:nvSpPr>
          <p:cNvPr id="15" name="TextBox 14"/>
          <p:cNvSpPr txBox="1"/>
          <p:nvPr/>
        </p:nvSpPr>
        <p:spPr>
          <a:xfrm>
            <a:off x="5394959" y="2103120"/>
            <a:ext cx="2286000" cy="548640"/>
          </a:xfrm>
          <a:prstGeom prst="rect">
            <a:avLst/>
          </a:prstGeom>
          <a:noFill/>
        </p:spPr>
        <p:txBody>
          <a:bodyPr wrap="square" lIns="0" tIns="0" rIns="0" bIns="0" anchor="ctr">
            <a:spAutoFit/>
          </a:bodyPr>
          <a:lstStyle/>
          <a:p>
            <a:pPr algn="l">
              <a:lnSpc>
                <a:spcPct val="100000"/>
              </a:lnSpc>
              <a:spcAft>
                <a:spcPts val="0"/>
              </a:spcAft>
            </a:pPr>
            <a:r>
              <a:rPr sz="1700" b="1" i="0">
                <a:solidFill>
                  <a:srgbClr val="1F2328"/>
                </a:solidFill>
                <a:latin typeface="Segoe UI"/>
              </a:rPr>
              <a:t>Secure design</a:t>
            </a:r>
          </a:p>
        </p:txBody>
      </p:sp>
      <p:sp>
        <p:nvSpPr>
          <p:cNvPr id="16" name="TextBox 15"/>
          <p:cNvSpPr txBox="1"/>
          <p:nvPr/>
        </p:nvSpPr>
        <p:spPr>
          <a:xfrm>
            <a:off x="4709159" y="2926080"/>
            <a:ext cx="2926080" cy="2743200"/>
          </a:xfrm>
          <a:prstGeom prst="rect">
            <a:avLst/>
          </a:prstGeom>
          <a:noFill/>
        </p:spPr>
        <p:txBody>
          <a:bodyPr wrap="square" lIns="0" tIns="0" rIns="0" bIns="0" anchor="t">
            <a:spAutoFit/>
          </a:bodyPr>
          <a:lstStyle/>
          <a:p>
            <a:pPr algn="l">
              <a:lnSpc>
                <a:spcPct val="115000"/>
              </a:lnSpc>
              <a:spcAft>
                <a:spcPts val="800"/>
              </a:spcAft>
            </a:pPr>
            <a:r>
              <a:rPr sz="1400" b="0" i="0">
                <a:solidFill>
                  <a:srgbClr val="5F6368"/>
                </a:solidFill>
                <a:latin typeface="Segoe UI"/>
              </a:rPr>
              <a:t>A culture and methodology that constantly evaluates threats.</a:t>
            </a:r>
          </a:p>
          <a:p>
            <a:pPr algn="l">
              <a:lnSpc>
                <a:spcPct val="115000"/>
              </a:lnSpc>
              <a:spcAft>
                <a:spcPts val="800"/>
              </a:spcAft>
            </a:pPr>
            <a:r>
              <a:rPr sz="1400" b="0" i="0">
                <a:solidFill>
                  <a:srgbClr val="5F6368"/>
                </a:solidFill>
                <a:latin typeface="Segoe UI"/>
              </a:rPr>
              <a:t>Threat model in refinement sessions; look at data-flow and access changes.</a:t>
            </a:r>
          </a:p>
          <a:p>
            <a:pPr algn="l">
              <a:lnSpc>
                <a:spcPct val="115000"/>
              </a:lnSpc>
              <a:spcAft>
                <a:spcPts val="800"/>
              </a:spcAft>
            </a:pPr>
            <a:r>
              <a:rPr sz="1400" b="0" i="0">
                <a:solidFill>
                  <a:srgbClr val="5F6368"/>
                </a:solidFill>
                <a:latin typeface="Segoe UI"/>
              </a:rPr>
              <a:t>Define normal and failure flows, and document them in the user story.</a:t>
            </a:r>
          </a:p>
        </p:txBody>
      </p:sp>
      <p:sp>
        <p:nvSpPr>
          <p:cNvPr id="17" name="Rounded Rectangle 16"/>
          <p:cNvSpPr/>
          <p:nvPr/>
        </p:nvSpPr>
        <p:spPr>
          <a:xfrm>
            <a:off x="8092440" y="1783080"/>
            <a:ext cx="3429000" cy="393192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783080"/>
            <a:ext cx="3429000" cy="64008"/>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66760" y="2103120"/>
            <a:ext cx="548640" cy="548640"/>
          </a:xfrm>
          <a:prstGeom prst="roundRect">
            <a:avLst>
              <a:gd name="adj" fmla="val 50000"/>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66760" y="2103120"/>
            <a:ext cx="548640" cy="548640"/>
          </a:xfrm>
          <a:prstGeom prst="rect">
            <a:avLst/>
          </a:prstGeom>
          <a:noFill/>
        </p:spPr>
        <p:txBody>
          <a:bodyPr wrap="square" lIns="0" tIns="0" rIns="0" bIns="0" anchor="ctr">
            <a:spAutoFit/>
          </a:bodyPr>
          <a:lstStyle/>
          <a:p>
            <a:pPr algn="ctr">
              <a:lnSpc>
                <a:spcPct val="112000"/>
              </a:lnSpc>
              <a:spcAft>
                <a:spcPts val="0"/>
              </a:spcAft>
            </a:pPr>
            <a:r>
              <a:rPr sz="2200" b="1" i="0">
                <a:solidFill>
                  <a:srgbClr val="FFFFFF"/>
                </a:solidFill>
                <a:latin typeface="Segoe UI"/>
              </a:rPr>
              <a:t>3</a:t>
            </a:r>
          </a:p>
        </p:txBody>
      </p:sp>
      <p:sp>
        <p:nvSpPr>
          <p:cNvPr id="21" name="TextBox 20"/>
          <p:cNvSpPr txBox="1"/>
          <p:nvPr/>
        </p:nvSpPr>
        <p:spPr>
          <a:xfrm>
            <a:off x="9052560" y="2103120"/>
            <a:ext cx="2286000" cy="548640"/>
          </a:xfrm>
          <a:prstGeom prst="rect">
            <a:avLst/>
          </a:prstGeom>
          <a:noFill/>
        </p:spPr>
        <p:txBody>
          <a:bodyPr wrap="square" lIns="0" tIns="0" rIns="0" bIns="0" anchor="ctr">
            <a:spAutoFit/>
          </a:bodyPr>
          <a:lstStyle/>
          <a:p>
            <a:pPr algn="l">
              <a:lnSpc>
                <a:spcPct val="100000"/>
              </a:lnSpc>
              <a:spcAft>
                <a:spcPts val="0"/>
              </a:spcAft>
            </a:pPr>
            <a:r>
              <a:rPr sz="1700" b="1" i="0">
                <a:solidFill>
                  <a:srgbClr val="1F2328"/>
                </a:solidFill>
                <a:latin typeface="Segoe UI"/>
              </a:rPr>
              <a:t>Secure development lifecycle</a:t>
            </a:r>
          </a:p>
        </p:txBody>
      </p:sp>
      <p:sp>
        <p:nvSpPr>
          <p:cNvPr id="22" name="TextBox 21"/>
          <p:cNvSpPr txBox="1"/>
          <p:nvPr/>
        </p:nvSpPr>
        <p:spPr>
          <a:xfrm>
            <a:off x="8366760" y="2926080"/>
            <a:ext cx="2926080" cy="2743200"/>
          </a:xfrm>
          <a:prstGeom prst="rect">
            <a:avLst/>
          </a:prstGeom>
          <a:noFill/>
        </p:spPr>
        <p:txBody>
          <a:bodyPr wrap="square" lIns="0" tIns="0" rIns="0" bIns="0" anchor="t">
            <a:spAutoFit/>
          </a:bodyPr>
          <a:lstStyle/>
          <a:p>
            <a:pPr algn="l">
              <a:lnSpc>
                <a:spcPct val="115000"/>
              </a:lnSpc>
              <a:spcAft>
                <a:spcPts val="800"/>
              </a:spcAft>
            </a:pPr>
            <a:r>
              <a:rPr sz="1400" b="0" i="0">
                <a:solidFill>
                  <a:srgbClr val="5F6368"/>
                </a:solidFill>
                <a:latin typeface="Segoe UI"/>
              </a:rPr>
              <a:t>Secure design patterns, paved-road components, secure component library.</a:t>
            </a:r>
          </a:p>
          <a:p>
            <a:pPr algn="l">
              <a:lnSpc>
                <a:spcPct val="115000"/>
              </a:lnSpc>
              <a:spcAft>
                <a:spcPts val="800"/>
              </a:spcAft>
            </a:pPr>
            <a:r>
              <a:rPr sz="1400" b="0" i="0">
                <a:solidFill>
                  <a:srgbClr val="5F6368"/>
                </a:solidFill>
                <a:latin typeface="Segoe UI"/>
              </a:rPr>
              <a:t>Involve security specialists from the start and through maintenance.</a:t>
            </a:r>
          </a:p>
          <a:p>
            <a:pPr algn="l">
              <a:lnSpc>
                <a:spcPct val="115000"/>
              </a:lnSpc>
              <a:spcAft>
                <a:spcPts val="800"/>
              </a:spcAft>
            </a:pPr>
            <a:r>
              <a:rPr sz="1400" b="0" i="0">
                <a:solidFill>
                  <a:srgbClr val="5F6368"/>
                </a:solidFill>
                <a:latin typeface="Segoe UI"/>
              </a:rPr>
              <a:t>Learn from incident post-mortems; use OWASP SAMM.</a:t>
            </a:r>
          </a:p>
        </p:txBody>
      </p:sp>
      <p:sp>
        <p:nvSpPr>
          <p:cNvPr id="23" name="Rounded Rectangle 22"/>
          <p:cNvSpPr/>
          <p:nvPr/>
        </p:nvSpPr>
        <p:spPr>
          <a:xfrm>
            <a:off x="777240" y="5943600"/>
            <a:ext cx="10835640" cy="548640"/>
          </a:xfrm>
          <a:prstGeom prst="roundRect">
            <a:avLst>
              <a:gd name="adj" fmla="val 10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7240" y="5943600"/>
            <a:ext cx="64008" cy="54864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51560" y="5943600"/>
            <a:ext cx="10378440" cy="548640"/>
          </a:xfrm>
          <a:prstGeom prst="rect">
            <a:avLst/>
          </a:prstGeom>
          <a:noFill/>
        </p:spPr>
        <p:txBody>
          <a:bodyPr wrap="square" lIns="0" tIns="0" rIns="0" bIns="0" anchor="ctr">
            <a:spAutoFit/>
          </a:bodyPr>
          <a:lstStyle/>
          <a:p>
            <a:pPr algn="l">
              <a:lnSpc>
                <a:spcPct val="112000"/>
              </a:lnSpc>
              <a:spcAft>
                <a:spcPts val="0"/>
              </a:spcAft>
            </a:pPr>
            <a:r>
              <a:rPr sz="1500" b="0" i="0">
                <a:solidFill>
                  <a:srgbClr val="1F2328"/>
                </a:solidFill>
                <a:latin typeface="Segoe UI"/>
              </a:rPr>
              <a:t>Secure design is a culture and a methodology, not a tool you can bolt onto software.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ACCOUNT RECOVERY BY SECURITY QUESTIONS</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Real case: Yahoo! account takeover (2008)</a:t>
            </a:r>
          </a:p>
        </p:txBody>
      </p:sp>
      <p:sp>
        <p:nvSpPr>
          <p:cNvPr id="5" name="TextBox 4"/>
          <p:cNvSpPr txBox="1"/>
          <p:nvPr/>
        </p:nvSpPr>
        <p:spPr>
          <a:xfrm>
            <a:off x="777240" y="1783080"/>
            <a:ext cx="5394960" cy="365760"/>
          </a:xfrm>
          <a:prstGeom prst="rect">
            <a:avLst/>
          </a:prstGeom>
          <a:noFill/>
        </p:spPr>
        <p:txBody>
          <a:bodyPr wrap="square" lIns="0" tIns="0" rIns="0" bIns="0" anchor="t">
            <a:spAutoFit/>
          </a:bodyPr>
          <a:lstStyle/>
          <a:p>
            <a:pPr algn="l">
              <a:lnSpc>
                <a:spcPct val="112000"/>
              </a:lnSpc>
              <a:spcAft>
                <a:spcPts val="0"/>
              </a:spcAft>
            </a:pPr>
            <a:r>
              <a:rPr sz="1500" b="1" i="0">
                <a:solidFill>
                  <a:srgbClr val="B3402F"/>
                </a:solidFill>
                <a:latin typeface="Segoe UI"/>
              </a:rPr>
              <a:t>No password was cracked</a:t>
            </a:r>
          </a:p>
        </p:txBody>
      </p:sp>
      <p:sp>
        <p:nvSpPr>
          <p:cNvPr id="6" name="TextBox 5"/>
          <p:cNvSpPr txBox="1"/>
          <p:nvPr/>
        </p:nvSpPr>
        <p:spPr>
          <a:xfrm>
            <a:off x="777240" y="2240280"/>
            <a:ext cx="5394960" cy="3840480"/>
          </a:xfrm>
          <a:prstGeom prst="rect">
            <a:avLst/>
          </a:prstGeom>
          <a:noFill/>
        </p:spPr>
        <p:txBody>
          <a:bodyPr wrap="square" lIns="0" tIns="0" rIns="0" bIns="0" anchor="t">
            <a:spAutoFit/>
          </a:bodyPr>
          <a:lstStyle/>
          <a:p>
            <a:pPr algn="l">
              <a:lnSpc>
                <a:spcPct val="120000"/>
              </a:lnSpc>
              <a:spcAft>
                <a:spcPts val="1000"/>
              </a:spcAft>
            </a:pPr>
            <a:r>
              <a:rPr sz="1500" b="1" i="0">
                <a:solidFill>
                  <a:srgbClr val="1F2328"/>
                </a:solidFill>
                <a:latin typeface="Segoe UI"/>
              </a:rPr>
              <a:t>What happened. </a:t>
            </a:r>
            <a:r>
              <a:rPr sz="1500" b="0" i="0">
                <a:solidFill>
                  <a:srgbClr val="5F6368"/>
                </a:solidFill>
                <a:latin typeface="Segoe UI"/>
              </a:rPr>
              <a:t>In September 2008, a student took over the personal Yahoo! Mail account of vice-presidential candidate Sarah Palin.</a:t>
            </a:r>
          </a:p>
          <a:p>
            <a:pPr algn="l">
              <a:lnSpc>
                <a:spcPct val="120000"/>
              </a:lnSpc>
              <a:spcAft>
                <a:spcPts val="1000"/>
              </a:spcAft>
            </a:pPr>
            <a:r>
              <a:rPr sz="1500" b="1" i="0">
                <a:solidFill>
                  <a:srgbClr val="1F2328"/>
                </a:solidFill>
                <a:latin typeface="Segoe UI"/>
              </a:rPr>
              <a:t>How. </a:t>
            </a:r>
            <a:r>
              <a:rPr sz="1500" b="0" i="0">
                <a:solidFill>
                  <a:srgbClr val="5F6368"/>
                </a:solidFill>
                <a:latin typeface="Segoe UI"/>
              </a:rPr>
              <a:t>He looked up public details, such as her high school and birthdate, and used the account-recovery flow for forgotten passwords.</a:t>
            </a:r>
          </a:p>
          <a:p>
            <a:pPr algn="l">
              <a:lnSpc>
                <a:spcPct val="120000"/>
              </a:lnSpc>
              <a:spcAft>
                <a:spcPts val="1000"/>
              </a:spcAft>
            </a:pPr>
            <a:r>
              <a:rPr sz="1500" b="1" i="0">
                <a:solidFill>
                  <a:srgbClr val="1F2328"/>
                </a:solidFill>
                <a:latin typeface="Segoe UI"/>
              </a:rPr>
              <a:t>Why it is a design flaw. </a:t>
            </a:r>
            <a:r>
              <a:rPr sz="1500" b="0" i="0">
                <a:solidFill>
                  <a:srgbClr val="5F6368"/>
                </a:solidFill>
                <a:latin typeface="Segoe UI"/>
              </a:rPr>
              <a:t>The recovery flow trusted answers that anyone can look up. No coding bug was needed.</a:t>
            </a:r>
          </a:p>
          <a:p>
            <a:pPr algn="l">
              <a:lnSpc>
                <a:spcPct val="120000"/>
              </a:lnSpc>
              <a:spcAft>
                <a:spcPts val="1000"/>
              </a:spcAft>
            </a:pPr>
            <a:r>
              <a:rPr sz="1500" b="1" i="0">
                <a:solidFill>
                  <a:srgbClr val="1F2328"/>
                </a:solidFill>
                <a:latin typeface="Segoe UI"/>
              </a:rPr>
              <a:t>OWASP Scenario #1. </a:t>
            </a:r>
            <a:r>
              <a:rPr sz="1500" b="0" i="0">
                <a:solidFill>
                  <a:srgbClr val="5F6368"/>
                </a:solidFill>
                <a:latin typeface="Segoe UI"/>
              </a:rPr>
              <a:t>Questions and answers are prohibited by NIST 800-63b and OWASP ASVS: more than one person can know the answers. Remove the feature and replace it with a more secure design.</a:t>
            </a:r>
          </a:p>
        </p:txBody>
      </p:sp>
      <p:pic>
        <p:nvPicPr>
          <p:cNvPr id="7" name="Picture 6" descr="Account recovery form asking a security question whose answer is visible on a public profile"/>
          <p:cNvPicPr>
            <a:picLocks noChangeAspect="1"/>
          </p:cNvPicPr>
          <p:nvPr/>
        </p:nvPicPr>
        <p:blipFill>
          <a:blip r:embed="rId3"/>
          <a:stretch>
            <a:fillRect/>
          </a:stretch>
        </p:blipFill>
        <p:spPr>
          <a:xfrm>
            <a:off x="6675120" y="1783080"/>
            <a:ext cx="4937760" cy="3703320"/>
          </a:xfrm>
          <a:prstGeom prst="rect">
            <a:avLst/>
          </a:prstGeom>
          <a:ln w="12700">
            <a:solidFill>
              <a:srgbClr val="E0DDD6"/>
            </a:solidFill>
          </a:ln>
        </p:spPr>
      </p:pic>
      <p:sp>
        <p:nvSpPr>
          <p:cNvPr id="8" name="TextBox 7"/>
          <p:cNvSpPr txBox="1"/>
          <p:nvPr/>
        </p:nvSpPr>
        <p:spPr>
          <a:xfrm>
            <a:off x="777240" y="6355080"/>
            <a:ext cx="10789920" cy="274320"/>
          </a:xfrm>
          <a:prstGeom prst="rect">
            <a:avLst/>
          </a:prstGeom>
          <a:noFill/>
        </p:spPr>
        <p:txBody>
          <a:bodyPr wrap="square" lIns="0" tIns="0" rIns="0" bIns="0" anchor="t">
            <a:spAutoFit/>
          </a:bodyPr>
          <a:lstStyle/>
          <a:p>
            <a:pPr algn="l">
              <a:lnSpc>
                <a:spcPct val="112000"/>
              </a:lnSpc>
              <a:spcAft>
                <a:spcPts val="0"/>
              </a:spcAft>
            </a:pPr>
            <a:r>
              <a:rPr sz="1100" b="0" i="0">
                <a:solidFill>
                  <a:srgbClr val="5F6368"/>
                </a:solidFill>
                <a:latin typeface="Segoe UI"/>
              </a:rPr>
              <a:t>Source: Wikipedia, “Sarah Palin email hack”; OWASP Top 10:2025 A06, Scenario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EXAMPLE · SCENARIO #2</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Group bookings in a cinema chain</a:t>
            </a:r>
          </a:p>
        </p:txBody>
      </p:sp>
      <p:pic>
        <p:nvPicPr>
          <p:cNvPr id="5" name="Picture 4" descr="Cinema seat map: 15 seats within the limit, hundreds more held by one account"/>
          <p:cNvPicPr>
            <a:picLocks noChangeAspect="1"/>
          </p:cNvPicPr>
          <p:nvPr/>
        </p:nvPicPr>
        <p:blipFill>
          <a:blip r:embed="rId3"/>
          <a:stretch>
            <a:fillRect/>
          </a:stretch>
        </p:blipFill>
        <p:spPr>
          <a:xfrm>
            <a:off x="777240" y="1783080"/>
            <a:ext cx="4937760" cy="3526971"/>
          </a:xfrm>
          <a:prstGeom prst="rect">
            <a:avLst/>
          </a:prstGeom>
          <a:ln w="12700">
            <a:solidFill>
              <a:srgbClr val="E0DDD6"/>
            </a:solidFill>
          </a:ln>
        </p:spPr>
      </p:pic>
      <p:sp>
        <p:nvSpPr>
          <p:cNvPr id="6" name="Rounded Rectangle 5"/>
          <p:cNvSpPr/>
          <p:nvPr/>
        </p:nvSpPr>
        <p:spPr>
          <a:xfrm>
            <a:off x="6035040" y="1783080"/>
            <a:ext cx="5577840" cy="132588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35040" y="1783080"/>
            <a:ext cx="64008" cy="132588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938528"/>
            <a:ext cx="512064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1  THE BUSINESS RULE</a:t>
            </a:r>
          </a:p>
        </p:txBody>
      </p:sp>
      <p:sp>
        <p:nvSpPr>
          <p:cNvPr id="9" name="TextBox 8"/>
          <p:cNvSpPr txBox="1"/>
          <p:nvPr/>
        </p:nvSpPr>
        <p:spPr>
          <a:xfrm>
            <a:off x="6355080" y="2240280"/>
            <a:ext cx="5120640" cy="822960"/>
          </a:xfrm>
          <a:prstGeom prst="rect">
            <a:avLst/>
          </a:prstGeom>
          <a:noFill/>
        </p:spPr>
        <p:txBody>
          <a:bodyPr wrap="square" lIns="0" tIns="0" rIns="0" bIns="0" anchor="t">
            <a:spAutoFit/>
          </a:bodyPr>
          <a:lstStyle/>
          <a:p>
            <a:pPr algn="l">
              <a:lnSpc>
                <a:spcPct val="115000"/>
              </a:lnSpc>
              <a:spcAft>
                <a:spcPts val="0"/>
              </a:spcAft>
            </a:pPr>
            <a:r>
              <a:rPr sz="1450" b="0" i="0">
                <a:solidFill>
                  <a:srgbClr val="1F2328"/>
                </a:solidFill>
                <a:latin typeface="Segoe UI"/>
              </a:rPr>
              <a:t>Group discount. Up to 15 attendees; more than that requires a deposit.</a:t>
            </a:r>
          </a:p>
        </p:txBody>
      </p:sp>
      <p:sp>
        <p:nvSpPr>
          <p:cNvPr id="10" name="Rounded Rectangle 9"/>
          <p:cNvSpPr/>
          <p:nvPr/>
        </p:nvSpPr>
        <p:spPr>
          <a:xfrm>
            <a:off x="6035040" y="3264408"/>
            <a:ext cx="5577840" cy="132588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35040" y="3264408"/>
            <a:ext cx="64008" cy="1325880"/>
          </a:xfrm>
          <a:prstGeom prst="rect">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3419856"/>
            <a:ext cx="5120640" cy="274320"/>
          </a:xfrm>
          <a:prstGeom prst="rect">
            <a:avLst/>
          </a:prstGeom>
          <a:noFill/>
        </p:spPr>
        <p:txBody>
          <a:bodyPr wrap="square" lIns="0" tIns="0" rIns="0" bIns="0" anchor="t">
            <a:spAutoFit/>
          </a:bodyPr>
          <a:lstStyle/>
          <a:p>
            <a:pPr algn="l">
              <a:lnSpc>
                <a:spcPct val="112000"/>
              </a:lnSpc>
              <a:spcAft>
                <a:spcPts val="0"/>
              </a:spcAft>
            </a:pPr>
            <a:r>
              <a:rPr sz="1200" b="1" i="0">
                <a:solidFill>
                  <a:srgbClr val="B3402F"/>
                </a:solidFill>
                <a:latin typeface="Segoe UI"/>
              </a:rPr>
              <a:t>2  THE ABUSE</a:t>
            </a:r>
          </a:p>
        </p:txBody>
      </p:sp>
      <p:sp>
        <p:nvSpPr>
          <p:cNvPr id="13" name="TextBox 12"/>
          <p:cNvSpPr txBox="1"/>
          <p:nvPr/>
        </p:nvSpPr>
        <p:spPr>
          <a:xfrm>
            <a:off x="6355080" y="3721608"/>
            <a:ext cx="5120640" cy="822960"/>
          </a:xfrm>
          <a:prstGeom prst="rect">
            <a:avLst/>
          </a:prstGeom>
          <a:noFill/>
        </p:spPr>
        <p:txBody>
          <a:bodyPr wrap="square" lIns="0" tIns="0" rIns="0" bIns="0" anchor="t">
            <a:spAutoFit/>
          </a:bodyPr>
          <a:lstStyle/>
          <a:p>
            <a:pPr algn="l">
              <a:lnSpc>
                <a:spcPct val="115000"/>
              </a:lnSpc>
              <a:spcAft>
                <a:spcPts val="0"/>
              </a:spcAft>
            </a:pPr>
            <a:r>
              <a:rPr sz="1450" b="0" i="0">
                <a:solidFill>
                  <a:srgbClr val="1F2328"/>
                </a:solidFill>
                <a:latin typeface="Segoe UI"/>
              </a:rPr>
              <a:t>An attacker threat-models the flow and books 600 seats in all cinemas at once, in a few requests.</a:t>
            </a:r>
          </a:p>
        </p:txBody>
      </p:sp>
      <p:sp>
        <p:nvSpPr>
          <p:cNvPr id="14" name="Rounded Rectangle 13"/>
          <p:cNvSpPr/>
          <p:nvPr/>
        </p:nvSpPr>
        <p:spPr>
          <a:xfrm>
            <a:off x="6035040" y="4745736"/>
            <a:ext cx="5577840" cy="132588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35040" y="4745736"/>
            <a:ext cx="64008" cy="1325880"/>
          </a:xfrm>
          <a:prstGeom prst="rect">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4901184"/>
            <a:ext cx="5120640" cy="274320"/>
          </a:xfrm>
          <a:prstGeom prst="rect">
            <a:avLst/>
          </a:prstGeom>
          <a:noFill/>
        </p:spPr>
        <p:txBody>
          <a:bodyPr wrap="square" lIns="0" tIns="0" rIns="0" bIns="0" anchor="t">
            <a:spAutoFit/>
          </a:bodyPr>
          <a:lstStyle/>
          <a:p>
            <a:pPr algn="l">
              <a:lnSpc>
                <a:spcPct val="112000"/>
              </a:lnSpc>
              <a:spcAft>
                <a:spcPts val="0"/>
              </a:spcAft>
            </a:pPr>
            <a:r>
              <a:rPr sz="1200" b="1" i="0">
                <a:solidFill>
                  <a:srgbClr val="B3402F"/>
                </a:solidFill>
                <a:latin typeface="Segoe UI"/>
              </a:rPr>
              <a:t>3  THE IMPACT</a:t>
            </a:r>
          </a:p>
        </p:txBody>
      </p:sp>
      <p:sp>
        <p:nvSpPr>
          <p:cNvPr id="17" name="TextBox 16"/>
          <p:cNvSpPr txBox="1"/>
          <p:nvPr/>
        </p:nvSpPr>
        <p:spPr>
          <a:xfrm>
            <a:off x="6355080" y="5202936"/>
            <a:ext cx="5120640" cy="822960"/>
          </a:xfrm>
          <a:prstGeom prst="rect">
            <a:avLst/>
          </a:prstGeom>
          <a:noFill/>
        </p:spPr>
        <p:txBody>
          <a:bodyPr wrap="square" lIns="0" tIns="0" rIns="0" bIns="0" anchor="t">
            <a:spAutoFit/>
          </a:bodyPr>
          <a:lstStyle/>
          <a:p>
            <a:pPr algn="l">
              <a:lnSpc>
                <a:spcPct val="115000"/>
              </a:lnSpc>
              <a:spcAft>
                <a:spcPts val="0"/>
              </a:spcAft>
            </a:pPr>
            <a:r>
              <a:rPr sz="1450" b="0" i="0">
                <a:solidFill>
                  <a:srgbClr val="1F2328"/>
                </a:solidFill>
                <a:latin typeface="Segoe UI"/>
              </a:rPr>
              <a:t>Seats are blocked and cannot be sold again: a massive loss of income.</a:t>
            </a:r>
          </a:p>
        </p:txBody>
      </p:sp>
      <p:sp>
        <p:nvSpPr>
          <p:cNvPr id="18" name="Rounded Rectangle 17"/>
          <p:cNvSpPr/>
          <p:nvPr/>
        </p:nvSpPr>
        <p:spPr>
          <a:xfrm>
            <a:off x="777240" y="5532120"/>
            <a:ext cx="4937760" cy="685800"/>
          </a:xfrm>
          <a:prstGeom prst="roundRect">
            <a:avLst>
              <a:gd name="adj" fmla="val 10000"/>
            </a:avLst>
          </a:prstGeom>
          <a:solidFill>
            <a:srgbClr val="FD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5532120"/>
            <a:ext cx="4572000" cy="685800"/>
          </a:xfrm>
          <a:prstGeom prst="rect">
            <a:avLst/>
          </a:prstGeom>
          <a:noFill/>
        </p:spPr>
        <p:txBody>
          <a:bodyPr wrap="square" lIns="0" tIns="0" rIns="0" bIns="0" anchor="ctr">
            <a:spAutoFit/>
          </a:bodyPr>
          <a:lstStyle/>
          <a:p>
            <a:pPr algn="l">
              <a:lnSpc>
                <a:spcPct val="112000"/>
              </a:lnSpc>
              <a:spcAft>
                <a:spcPts val="0"/>
              </a:spcAft>
            </a:pPr>
            <a:r>
              <a:rPr sz="1300" b="1" i="0">
                <a:solidFill>
                  <a:srgbClr val="1F2328"/>
                </a:solidFill>
                <a:latin typeface="Consolas"/>
              </a:rPr>
              <a:t>POST /api/bookings</a:t>
            </a:r>
            <a:r>
              <a:rPr sz="1300" b="0" i="0">
                <a:solidFill>
                  <a:srgbClr val="1F2328"/>
                </a:solidFill>
                <a:latin typeface="Segoe UI"/>
              </a:rPr>
              <a:t>
</a:t>
            </a:r>
            <a:r>
              <a:rPr sz="1300" b="0" i="0">
                <a:solidFill>
                  <a:srgbClr val="B3402F"/>
                </a:solidFill>
                <a:latin typeface="Consolas"/>
              </a:rPr>
              <a:t>{"cinema": "ALL", "seat_ids": [1 … 600]}</a:t>
            </a:r>
          </a:p>
        </p:txBody>
      </p:sp>
      <p:sp>
        <p:nvSpPr>
          <p:cNvPr id="20" name="TextBox 19"/>
          <p:cNvSpPr txBox="1"/>
          <p:nvPr/>
        </p:nvSpPr>
        <p:spPr>
          <a:xfrm>
            <a:off x="777240" y="6263640"/>
            <a:ext cx="10789920" cy="274320"/>
          </a:xfrm>
          <a:prstGeom prst="rect">
            <a:avLst/>
          </a:prstGeom>
          <a:noFill/>
        </p:spPr>
        <p:txBody>
          <a:bodyPr wrap="square" lIns="0" tIns="0" rIns="0" bIns="0" anchor="t">
            <a:spAutoFit/>
          </a:bodyPr>
          <a:lstStyle/>
          <a:p>
            <a:pPr algn="l">
              <a:lnSpc>
                <a:spcPct val="112000"/>
              </a:lnSpc>
              <a:spcAft>
                <a:spcPts val="0"/>
              </a:spcAft>
            </a:pPr>
            <a:r>
              <a:rPr sz="1100" b="0" i="0">
                <a:solidFill>
                  <a:srgbClr val="5F6368"/>
                </a:solidFill>
                <a:latin typeface="Segoe UI"/>
              </a:rPr>
              <a:t>Source: OWASP Top 10:2025, A06, Scenario #2. Request shown is illustrative.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VULNERABLE DESIGN</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The booking endpoint without business rules</a:t>
            </a:r>
          </a:p>
        </p:txBody>
      </p:sp>
      <p:sp>
        <p:nvSpPr>
          <p:cNvPr id="5" name="Rounded Rectangle 4"/>
          <p:cNvSpPr/>
          <p:nvPr/>
        </p:nvSpPr>
        <p:spPr>
          <a:xfrm>
            <a:off x="777240" y="1783080"/>
            <a:ext cx="10835640" cy="3429000"/>
          </a:xfrm>
          <a:prstGeom prst="roundRect">
            <a:avLst>
              <a:gd name="adj" fmla="val 3000"/>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11680"/>
            <a:ext cx="10287000" cy="2971800"/>
          </a:xfrm>
          <a:prstGeom prst="rect">
            <a:avLst/>
          </a:prstGeom>
          <a:noFill/>
        </p:spPr>
        <p:txBody>
          <a:bodyPr wrap="none" lIns="0" tIns="0" rIns="0" bIns="0">
            <a:spAutoFit/>
          </a:bodyPr>
          <a:lstStyle/>
          <a:p>
            <a:pPr>
              <a:lnSpc>
                <a:spcPct val="108000"/>
              </a:lnSpc>
            </a:pPr>
            <a:r>
              <a:rPr sz="1350" b="0">
                <a:solidFill>
                  <a:srgbClr val="D7DCE5"/>
                </a:solidFill>
                <a:latin typeface="Consolas"/>
              </a:rPr>
              <a:t>@app.route("/api/bookings", methods=["POST"])</a:t>
            </a:r>
          </a:p>
          <a:p>
            <a:pPr>
              <a:lnSpc>
                <a:spcPct val="108000"/>
              </a:lnSpc>
            </a:pPr>
            <a:r>
              <a:rPr sz="1350" b="0">
                <a:solidFill>
                  <a:srgbClr val="D7DCE5"/>
                </a:solidFill>
                <a:latin typeface="Consolas"/>
              </a:rPr>
              <a:t>@login_required</a:t>
            </a:r>
          </a:p>
          <a:p>
            <a:pPr>
              <a:lnSpc>
                <a:spcPct val="108000"/>
              </a:lnSpc>
            </a:pPr>
            <a:r>
              <a:rPr sz="1350" b="0">
                <a:solidFill>
                  <a:srgbClr val="D7DCE5"/>
                </a:solidFill>
                <a:latin typeface="Consolas"/>
              </a:rPr>
              <a:t>def book_seats():</a:t>
            </a:r>
          </a:p>
          <a:p>
            <a:pPr>
              <a:lnSpc>
                <a:spcPct val="108000"/>
              </a:lnSpc>
            </a:pPr>
            <a:r>
              <a:rPr sz="1350" b="0">
                <a:solidFill>
                  <a:srgbClr val="D7DCE5"/>
                </a:solidFill>
                <a:latin typeface="Consolas"/>
              </a:rPr>
              <a:t>    seat_ids = request.get_json()["seat_ids"]   # any number, any cinema</a:t>
            </a:r>
          </a:p>
          <a:p>
            <a:pPr>
              <a:lnSpc>
                <a:spcPct val="108000"/>
              </a:lnSpc>
            </a:pPr>
            <a:r>
              <a:rPr sz="1350" b="0">
                <a:solidFill>
                  <a:srgbClr val="D7DCE5"/>
                </a:solidFill>
                <a:latin typeface="Consolas"/>
              </a:rPr>
              <a:t> </a:t>
            </a:r>
          </a:p>
          <a:p>
            <a:pPr>
              <a:lnSpc>
                <a:spcPct val="108000"/>
              </a:lnSpc>
            </a:pPr>
            <a:r>
              <a:rPr sz="1350" b="1">
                <a:solidFill>
                  <a:srgbClr val="FF8A7A"/>
                </a:solidFill>
                <a:latin typeface="Consolas"/>
              </a:rPr>
              <a:t>    # FLAW: the design never defined limits. The rule 'max 15 seats,</a:t>
            </a:r>
          </a:p>
          <a:p>
            <a:pPr>
              <a:lnSpc>
                <a:spcPct val="108000"/>
              </a:lnSpc>
            </a:pPr>
            <a:r>
              <a:rPr sz="1350" b="1">
                <a:solidFill>
                  <a:srgbClr val="FF8A7A"/>
                </a:solidFill>
                <a:latin typeface="Consolas"/>
              </a:rPr>
              <a:t>    # more needs a deposit' exists only in the marketing text.</a:t>
            </a:r>
          </a:p>
          <a:p>
            <a:pPr>
              <a:lnSpc>
                <a:spcPct val="108000"/>
              </a:lnSpc>
            </a:pPr>
            <a:r>
              <a:rPr sz="1350" b="0">
                <a:solidFill>
                  <a:srgbClr val="D7DCE5"/>
                </a:solidFill>
                <a:latin typeface="Consolas"/>
              </a:rPr>
              <a:t>    for seat_id in seat_ids:</a:t>
            </a:r>
          </a:p>
          <a:p>
            <a:pPr>
              <a:lnSpc>
                <a:spcPct val="108000"/>
              </a:lnSpc>
            </a:pPr>
            <a:r>
              <a:rPr sz="1350" b="0">
                <a:solidFill>
                  <a:srgbClr val="D7DCE5"/>
                </a:solidFill>
                <a:latin typeface="Consolas"/>
              </a:rPr>
              <a:t>        db.execute("UPDATE seats SET status='BOOKED', user_id=? WHERE id=?",</a:t>
            </a:r>
          </a:p>
          <a:p>
            <a:pPr>
              <a:lnSpc>
                <a:spcPct val="108000"/>
              </a:lnSpc>
            </a:pPr>
            <a:r>
              <a:rPr sz="1350" b="0">
                <a:solidFill>
                  <a:srgbClr val="D7DCE5"/>
                </a:solidFill>
                <a:latin typeface="Consolas"/>
              </a:rPr>
              <a:t>                   (current_user.id, seat_id))</a:t>
            </a:r>
          </a:p>
          <a:p>
            <a:pPr>
              <a:lnSpc>
                <a:spcPct val="108000"/>
              </a:lnSpc>
            </a:pPr>
            <a:r>
              <a:rPr sz="1350" b="0">
                <a:solidFill>
                  <a:srgbClr val="D7DCE5"/>
                </a:solidFill>
                <a:latin typeface="Consolas"/>
              </a:rPr>
              <a:t>    return jsonify({"booked": len(seat_ids)}), 201</a:t>
            </a:r>
          </a:p>
        </p:txBody>
      </p:sp>
      <p:sp>
        <p:nvSpPr>
          <p:cNvPr id="7" name="Rounded Rectangle 6"/>
          <p:cNvSpPr/>
          <p:nvPr/>
        </p:nvSpPr>
        <p:spPr>
          <a:xfrm>
            <a:off x="777240" y="5440680"/>
            <a:ext cx="10835640" cy="868680"/>
          </a:xfrm>
          <a:prstGeom prst="roundRect">
            <a:avLst>
              <a:gd name="adj" fmla="val 10000"/>
            </a:avLst>
          </a:prstGeom>
          <a:solidFill>
            <a:srgbClr val="FD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5440680"/>
            <a:ext cx="64008" cy="868680"/>
          </a:xfrm>
          <a:prstGeom prst="rect">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5440680"/>
            <a:ext cx="10378440" cy="868680"/>
          </a:xfrm>
          <a:prstGeom prst="rect">
            <a:avLst/>
          </a:prstGeom>
          <a:noFill/>
        </p:spPr>
        <p:txBody>
          <a:bodyPr wrap="square" lIns="0" tIns="0" rIns="0" bIns="0" anchor="ctr">
            <a:spAutoFit/>
          </a:bodyPr>
          <a:lstStyle/>
          <a:p>
            <a:pPr algn="l">
              <a:lnSpc>
                <a:spcPct val="112000"/>
              </a:lnSpc>
              <a:spcAft>
                <a:spcPts val="0"/>
              </a:spcAft>
            </a:pPr>
            <a:r>
              <a:rPr sz="1500" b="1" i="0">
                <a:solidFill>
                  <a:srgbClr val="B3402F"/>
                </a:solidFill>
                <a:latin typeface="Segoe UI"/>
              </a:rPr>
              <a:t>Why it fails: </a:t>
            </a:r>
            <a:r>
              <a:rPr sz="1500" b="0" i="0">
                <a:solidFill>
                  <a:srgbClr val="1F2328"/>
                </a:solidFill>
                <a:latin typeface="Segoe UI"/>
              </a:rPr>
              <a:t>the code is correct for the request it receives, but no one decided what a legitimate booking looks like. Perfect code would not fix it.</a:t>
            </a:r>
          </a:p>
        </p:txBody>
      </p:sp>
      <p:sp>
        <p:nvSpPr>
          <p:cNvPr id="10" name="TextBox 9"/>
          <p:cNvSpPr txBox="1"/>
          <p:nvPr/>
        </p:nvSpPr>
        <p:spPr>
          <a:xfrm>
            <a:off x="777240" y="6400800"/>
            <a:ext cx="10789920" cy="274320"/>
          </a:xfrm>
          <a:prstGeom prst="rect">
            <a:avLst/>
          </a:prstGeom>
          <a:noFill/>
        </p:spPr>
        <p:txBody>
          <a:bodyPr wrap="square" lIns="0" tIns="0" rIns="0" bIns="0" anchor="t">
            <a:spAutoFit/>
          </a:bodyPr>
          <a:lstStyle/>
          <a:p>
            <a:pPr algn="l">
              <a:lnSpc>
                <a:spcPct val="112000"/>
              </a:lnSpc>
              <a:spcAft>
                <a:spcPts val="0"/>
              </a:spcAft>
            </a:pPr>
            <a:r>
              <a:rPr sz="1100" b="0" i="0">
                <a:solidFill>
                  <a:srgbClr val="5F6368"/>
                </a:solidFill>
                <a:latin typeface="Segoe UI"/>
              </a:rPr>
              <a:t>Illustrative code written for this presentation; not taken from the OWASP page.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REMEDIATION PATTERN</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The same endpoint, with the rule designed in</a:t>
            </a:r>
          </a:p>
        </p:txBody>
      </p:sp>
      <p:sp>
        <p:nvSpPr>
          <p:cNvPr id="5" name="Rounded Rectangle 4"/>
          <p:cNvSpPr/>
          <p:nvPr/>
        </p:nvSpPr>
        <p:spPr>
          <a:xfrm>
            <a:off x="777240" y="1783080"/>
            <a:ext cx="10835640" cy="3611880"/>
          </a:xfrm>
          <a:prstGeom prst="roundRect">
            <a:avLst>
              <a:gd name="adj" fmla="val 3000"/>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11680"/>
            <a:ext cx="10287000" cy="3154680"/>
          </a:xfrm>
          <a:prstGeom prst="rect">
            <a:avLst/>
          </a:prstGeom>
          <a:noFill/>
        </p:spPr>
        <p:txBody>
          <a:bodyPr wrap="none" lIns="0" tIns="0" rIns="0" bIns="0">
            <a:spAutoFit/>
          </a:bodyPr>
          <a:lstStyle/>
          <a:p>
            <a:pPr>
              <a:lnSpc>
                <a:spcPct val="108000"/>
              </a:lnSpc>
            </a:pPr>
            <a:r>
              <a:rPr sz="1300" b="1">
                <a:solidFill>
                  <a:srgbClr val="7FD6A0"/>
                </a:solidFill>
                <a:latin typeface="Consolas"/>
              </a:rPr>
              <a:t>MAX_GROUP_SIZE = 15          # business rule, agreed with the business</a:t>
            </a:r>
          </a:p>
          <a:p>
            <a:pPr>
              <a:lnSpc>
                <a:spcPct val="108000"/>
              </a:lnSpc>
            </a:pPr>
            <a:r>
              <a:rPr sz="1300" b="1">
                <a:solidFill>
                  <a:srgbClr val="7FD6A0"/>
                </a:solidFill>
                <a:latin typeface="Consolas"/>
              </a:rPr>
              <a:t>MAX_ACTIVE_HOLDS = 15        # per account, across all cinemas</a:t>
            </a:r>
          </a:p>
          <a:p>
            <a:pPr>
              <a:lnSpc>
                <a:spcPct val="108000"/>
              </a:lnSpc>
            </a:pPr>
            <a:r>
              <a:rPr sz="1300" b="1">
                <a:solidFill>
                  <a:srgbClr val="7FD6A0"/>
                </a:solidFill>
                <a:latin typeface="Consolas"/>
              </a:rPr>
              <a:t>HOLD_MINUTES = 10            # held seats expire</a:t>
            </a:r>
          </a:p>
          <a:p>
            <a:pPr>
              <a:lnSpc>
                <a:spcPct val="108000"/>
              </a:lnSpc>
            </a:pPr>
            <a:r>
              <a:rPr sz="1300" b="0">
                <a:solidFill>
                  <a:srgbClr val="D7DCE5"/>
                </a:solidFill>
                <a:latin typeface="Consolas"/>
              </a:rPr>
              <a:t> </a:t>
            </a:r>
          </a:p>
          <a:p>
            <a:pPr>
              <a:lnSpc>
                <a:spcPct val="108000"/>
              </a:lnSpc>
            </a:pPr>
            <a:r>
              <a:rPr sz="1300" b="0">
                <a:solidFill>
                  <a:srgbClr val="D7DCE5"/>
                </a:solidFill>
                <a:latin typeface="Consolas"/>
              </a:rPr>
              <a:t>@app.route('/api/bookings', methods=['POST'])</a:t>
            </a:r>
          </a:p>
          <a:p>
            <a:pPr>
              <a:lnSpc>
                <a:spcPct val="108000"/>
              </a:lnSpc>
            </a:pPr>
            <a:r>
              <a:rPr sz="1300" b="0">
                <a:solidFill>
                  <a:srgbClr val="D7DCE5"/>
                </a:solidFill>
                <a:latin typeface="Consolas"/>
              </a:rPr>
              <a:t>@login_required</a:t>
            </a:r>
          </a:p>
          <a:p>
            <a:pPr>
              <a:lnSpc>
                <a:spcPct val="108000"/>
              </a:lnSpc>
            </a:pPr>
            <a:r>
              <a:rPr sz="1300" b="1">
                <a:solidFill>
                  <a:srgbClr val="7FD6A0"/>
                </a:solidFill>
                <a:latin typeface="Consolas"/>
              </a:rPr>
              <a:t>@rate_limit('5/minute')      # plausibility check at the API tier</a:t>
            </a:r>
          </a:p>
          <a:p>
            <a:pPr>
              <a:lnSpc>
                <a:spcPct val="108000"/>
              </a:lnSpc>
            </a:pPr>
            <a:r>
              <a:rPr sz="1300" b="0">
                <a:solidFill>
                  <a:srgbClr val="D7DCE5"/>
                </a:solidFill>
                <a:latin typeface="Consolas"/>
              </a:rPr>
              <a:t>def book_seats():</a:t>
            </a:r>
          </a:p>
          <a:p>
            <a:pPr>
              <a:lnSpc>
                <a:spcPct val="108000"/>
              </a:lnSpc>
            </a:pPr>
            <a:r>
              <a:rPr sz="1300" b="0">
                <a:solidFill>
                  <a:srgbClr val="D7DCE5"/>
                </a:solidFill>
                <a:latin typeface="Consolas"/>
              </a:rPr>
              <a:t>    seat_ids = request.get_json()['seat_ids']</a:t>
            </a:r>
          </a:p>
          <a:p>
            <a:pPr>
              <a:lnSpc>
                <a:spcPct val="108000"/>
              </a:lnSpc>
            </a:pPr>
            <a:r>
              <a:rPr sz="1300" b="1">
                <a:solidFill>
                  <a:srgbClr val="7FD6A0"/>
                </a:solidFill>
                <a:latin typeface="Consolas"/>
              </a:rPr>
              <a:t>    if len(seat_ids) &gt; MAX_GROUP_SIZE:</a:t>
            </a:r>
          </a:p>
          <a:p>
            <a:pPr>
              <a:lnSpc>
                <a:spcPct val="108000"/>
              </a:lnSpc>
            </a:pPr>
            <a:r>
              <a:rPr sz="1300" b="1">
                <a:solidFill>
                  <a:srgbClr val="7FD6A0"/>
                </a:solidFill>
                <a:latin typeface="Consolas"/>
              </a:rPr>
              <a:t>        return require_deposit(seat_ids)       # rule enforced on the server</a:t>
            </a:r>
          </a:p>
          <a:p>
            <a:pPr>
              <a:lnSpc>
                <a:spcPct val="108000"/>
              </a:lnSpc>
            </a:pPr>
            <a:r>
              <a:rPr sz="1300" b="1">
                <a:solidFill>
                  <a:srgbClr val="7FD6A0"/>
                </a:solidFill>
                <a:latin typeface="Consolas"/>
              </a:rPr>
              <a:t>    if active_holds(current_user.id) + len(seat_ids) &gt; MAX_ACTIVE_HOLDS:</a:t>
            </a:r>
          </a:p>
          <a:p>
            <a:pPr>
              <a:lnSpc>
                <a:spcPct val="108000"/>
              </a:lnSpc>
            </a:pPr>
            <a:r>
              <a:rPr sz="1300" b="1">
                <a:solidFill>
                  <a:srgbClr val="7FD6A0"/>
                </a:solidFill>
                <a:latin typeface="Consolas"/>
              </a:rPr>
              <a:t>        return jsonify({'error': 'Hold limit reached'}), 429</a:t>
            </a:r>
          </a:p>
          <a:p>
            <a:pPr>
              <a:lnSpc>
                <a:spcPct val="108000"/>
              </a:lnSpc>
            </a:pPr>
            <a:r>
              <a:rPr sz="1300" b="0">
                <a:solidFill>
                  <a:srgbClr val="D7DCE5"/>
                </a:solidFill>
                <a:latin typeface="Consolas"/>
              </a:rPr>
              <a:t>    hold_seats(current_user.id, seat_ids, minutes=HOLD_MINUTES)</a:t>
            </a:r>
          </a:p>
        </p:txBody>
      </p:sp>
      <p:sp>
        <p:nvSpPr>
          <p:cNvPr id="7" name="Rounded Rectangle 6"/>
          <p:cNvSpPr/>
          <p:nvPr/>
        </p:nvSpPr>
        <p:spPr>
          <a:xfrm>
            <a:off x="777240" y="5623560"/>
            <a:ext cx="10835640" cy="685800"/>
          </a:xfrm>
          <a:prstGeom prst="roundRect">
            <a:avLst>
              <a:gd name="adj" fmla="val 10000"/>
            </a:avLst>
          </a:prstGeom>
          <a:solidFill>
            <a:srgbClr val="EA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5623560"/>
            <a:ext cx="64008" cy="68580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5623560"/>
            <a:ext cx="10378440" cy="685800"/>
          </a:xfrm>
          <a:prstGeom prst="rect">
            <a:avLst/>
          </a:prstGeom>
          <a:noFill/>
        </p:spPr>
        <p:txBody>
          <a:bodyPr wrap="square" lIns="0" tIns="0" rIns="0" bIns="0" anchor="ctr">
            <a:spAutoFit/>
          </a:bodyPr>
          <a:lstStyle/>
          <a:p>
            <a:pPr algn="l">
              <a:lnSpc>
                <a:spcPct val="112000"/>
              </a:lnSpc>
              <a:spcAft>
                <a:spcPts val="0"/>
              </a:spcAft>
            </a:pPr>
            <a:r>
              <a:rPr sz="1500" b="1" i="0">
                <a:solidFill>
                  <a:srgbClr val="2E7D4F"/>
                </a:solidFill>
                <a:latin typeface="Segoe UI"/>
              </a:rPr>
              <a:t>Key takeaway: </a:t>
            </a:r>
            <a:r>
              <a:rPr sz="1500" b="0" i="0">
                <a:solidFill>
                  <a:srgbClr val="1F2328"/>
                </a:solidFill>
                <a:latin typeface="Segoe UI"/>
              </a:rPr>
              <a:t>write the rule, enforce it on every tier, and test it with misuse cases.</a:t>
            </a:r>
          </a:p>
        </p:txBody>
      </p:sp>
      <p:sp>
        <p:nvSpPr>
          <p:cNvPr id="10" name="TextBox 9"/>
          <p:cNvSpPr txBox="1"/>
          <p:nvPr/>
        </p:nvSpPr>
        <p:spPr>
          <a:xfrm>
            <a:off x="777240" y="6400800"/>
            <a:ext cx="10789920" cy="274320"/>
          </a:xfrm>
          <a:prstGeom prst="rect">
            <a:avLst/>
          </a:prstGeom>
          <a:noFill/>
        </p:spPr>
        <p:txBody>
          <a:bodyPr wrap="square" lIns="0" tIns="0" rIns="0" bIns="0" anchor="t">
            <a:spAutoFit/>
          </a:bodyPr>
          <a:lstStyle/>
          <a:p>
            <a:pPr algn="l">
              <a:lnSpc>
                <a:spcPct val="112000"/>
              </a:lnSpc>
              <a:spcAft>
                <a:spcPts val="0"/>
              </a:spcAft>
            </a:pPr>
            <a:r>
              <a:rPr sz="1100" b="0" i="0">
                <a:solidFill>
                  <a:srgbClr val="5F6368"/>
                </a:solidFill>
                <a:latin typeface="Segoe UI"/>
              </a:rPr>
              <a:t>Illustrative code written for this presentation; not taken from the OWASP page.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STRATEGIES OF MITIGATION</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How to prevent it</a:t>
            </a:r>
          </a:p>
        </p:txBody>
      </p:sp>
      <p:sp>
        <p:nvSpPr>
          <p:cNvPr id="5" name="Rounded Rectangle 4"/>
          <p:cNvSpPr/>
          <p:nvPr/>
        </p:nvSpPr>
        <p:spPr>
          <a:xfrm>
            <a:off x="777240" y="1783080"/>
            <a:ext cx="5349240" cy="178308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5349240" cy="64008"/>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057400"/>
            <a:ext cx="4800600" cy="457200"/>
          </a:xfrm>
          <a:prstGeom prst="rect">
            <a:avLst/>
          </a:prstGeom>
          <a:noFill/>
        </p:spPr>
        <p:txBody>
          <a:bodyPr wrap="square" lIns="0" tIns="0" rIns="0" bIns="0" anchor="t">
            <a:spAutoFit/>
          </a:bodyPr>
          <a:lstStyle/>
          <a:p>
            <a:pPr algn="l">
              <a:lnSpc>
                <a:spcPct val="112000"/>
              </a:lnSpc>
              <a:spcAft>
                <a:spcPts val="0"/>
              </a:spcAft>
            </a:pPr>
            <a:r>
              <a:rPr sz="1700" b="1" i="0">
                <a:solidFill>
                  <a:srgbClr val="1F2328"/>
                </a:solidFill>
                <a:latin typeface="Segoe UI"/>
              </a:rPr>
              <a:t>Secure lifecycle &amp; patterns</a:t>
            </a:r>
          </a:p>
        </p:txBody>
      </p:sp>
      <p:sp>
        <p:nvSpPr>
          <p:cNvPr id="8" name="TextBox 7"/>
          <p:cNvSpPr txBox="1"/>
          <p:nvPr/>
        </p:nvSpPr>
        <p:spPr>
          <a:xfrm>
            <a:off x="1051560" y="2606040"/>
            <a:ext cx="4800600" cy="868680"/>
          </a:xfrm>
          <a:prstGeom prst="rect">
            <a:avLst/>
          </a:prstGeom>
          <a:noFill/>
        </p:spPr>
        <p:txBody>
          <a:bodyPr wrap="square" lIns="0" tIns="0" rIns="0" bIns="0" anchor="t">
            <a:spAutoFit/>
          </a:bodyPr>
          <a:lstStyle/>
          <a:p>
            <a:pPr algn="l">
              <a:lnSpc>
                <a:spcPct val="115000"/>
              </a:lnSpc>
              <a:spcAft>
                <a:spcPts val="600"/>
              </a:spcAft>
            </a:pPr>
            <a:r>
              <a:rPr sz="1350" b="0" i="0">
                <a:solidFill>
                  <a:srgbClr val="5F6368"/>
                </a:solidFill>
                <a:latin typeface="Segoe UI"/>
              </a:rPr>
              <a:t>Use a secure development lifecycle with AppSec professionals.</a:t>
            </a:r>
          </a:p>
          <a:p>
            <a:pPr algn="l">
              <a:lnSpc>
                <a:spcPct val="115000"/>
              </a:lnSpc>
              <a:spcAft>
                <a:spcPts val="600"/>
              </a:spcAft>
            </a:pPr>
            <a:r>
              <a:rPr sz="1350" b="0" i="0">
                <a:solidFill>
                  <a:srgbClr val="5F6368"/>
                </a:solidFill>
                <a:latin typeface="Segoe UI"/>
              </a:rPr>
              <a:t>Build a library of secure design patterns and paved-road components.</a:t>
            </a:r>
          </a:p>
        </p:txBody>
      </p:sp>
      <p:sp>
        <p:nvSpPr>
          <p:cNvPr id="9" name="Rounded Rectangle 8"/>
          <p:cNvSpPr/>
          <p:nvPr/>
        </p:nvSpPr>
        <p:spPr>
          <a:xfrm>
            <a:off x="6263640" y="1783080"/>
            <a:ext cx="5349240" cy="178308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783080"/>
            <a:ext cx="5349240" cy="64008"/>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59" y="2057400"/>
            <a:ext cx="4800600" cy="457200"/>
          </a:xfrm>
          <a:prstGeom prst="rect">
            <a:avLst/>
          </a:prstGeom>
          <a:noFill/>
        </p:spPr>
        <p:txBody>
          <a:bodyPr wrap="square" lIns="0" tIns="0" rIns="0" bIns="0" anchor="t">
            <a:spAutoFit/>
          </a:bodyPr>
          <a:lstStyle/>
          <a:p>
            <a:pPr algn="l">
              <a:lnSpc>
                <a:spcPct val="112000"/>
              </a:lnSpc>
              <a:spcAft>
                <a:spcPts val="0"/>
              </a:spcAft>
            </a:pPr>
            <a:r>
              <a:rPr sz="1700" b="1" i="0">
                <a:solidFill>
                  <a:srgbClr val="1F2328"/>
                </a:solidFill>
                <a:latin typeface="Segoe UI"/>
              </a:rPr>
              <a:t>Threat modeling</a:t>
            </a:r>
          </a:p>
        </p:txBody>
      </p:sp>
      <p:sp>
        <p:nvSpPr>
          <p:cNvPr id="12" name="TextBox 11"/>
          <p:cNvSpPr txBox="1"/>
          <p:nvPr/>
        </p:nvSpPr>
        <p:spPr>
          <a:xfrm>
            <a:off x="6537959" y="2606040"/>
            <a:ext cx="4800600" cy="868680"/>
          </a:xfrm>
          <a:prstGeom prst="rect">
            <a:avLst/>
          </a:prstGeom>
          <a:noFill/>
        </p:spPr>
        <p:txBody>
          <a:bodyPr wrap="square" lIns="0" tIns="0" rIns="0" bIns="0" anchor="t">
            <a:spAutoFit/>
          </a:bodyPr>
          <a:lstStyle/>
          <a:p>
            <a:pPr algn="l">
              <a:lnSpc>
                <a:spcPct val="115000"/>
              </a:lnSpc>
              <a:spcAft>
                <a:spcPts val="600"/>
              </a:spcAft>
            </a:pPr>
            <a:r>
              <a:rPr sz="1350" b="0" i="0">
                <a:solidFill>
                  <a:srgbClr val="5F6368"/>
                </a:solidFill>
                <a:latin typeface="Segoe UI"/>
              </a:rPr>
              <a:t>Apply it to authentication, access control, business logic and key flows.</a:t>
            </a:r>
          </a:p>
          <a:p>
            <a:pPr algn="l">
              <a:lnSpc>
                <a:spcPct val="115000"/>
              </a:lnSpc>
              <a:spcAft>
                <a:spcPts val="600"/>
              </a:spcAft>
            </a:pPr>
            <a:r>
              <a:rPr sz="1350" b="0" i="0">
                <a:solidFill>
                  <a:srgbClr val="5F6368"/>
                </a:solidFill>
                <a:latin typeface="Segoe UI"/>
              </a:rPr>
              <a:t>Use it also to teach a security mindset.</a:t>
            </a:r>
          </a:p>
        </p:txBody>
      </p:sp>
      <p:sp>
        <p:nvSpPr>
          <p:cNvPr id="13" name="Rounded Rectangle 12"/>
          <p:cNvSpPr/>
          <p:nvPr/>
        </p:nvSpPr>
        <p:spPr>
          <a:xfrm>
            <a:off x="777240" y="3749039"/>
            <a:ext cx="5349240" cy="178308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3749039"/>
            <a:ext cx="5349240" cy="64008"/>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4023359"/>
            <a:ext cx="4800600" cy="457200"/>
          </a:xfrm>
          <a:prstGeom prst="rect">
            <a:avLst/>
          </a:prstGeom>
          <a:noFill/>
        </p:spPr>
        <p:txBody>
          <a:bodyPr wrap="square" lIns="0" tIns="0" rIns="0" bIns="0" anchor="t">
            <a:spAutoFit/>
          </a:bodyPr>
          <a:lstStyle/>
          <a:p>
            <a:pPr algn="l">
              <a:lnSpc>
                <a:spcPct val="112000"/>
              </a:lnSpc>
              <a:spcAft>
                <a:spcPts val="0"/>
              </a:spcAft>
            </a:pPr>
            <a:r>
              <a:rPr sz="1700" b="1" i="0">
                <a:solidFill>
                  <a:srgbClr val="1F2328"/>
                </a:solidFill>
                <a:latin typeface="Segoe UI"/>
              </a:rPr>
              <a:t>Requirements &amp; tests</a:t>
            </a:r>
          </a:p>
        </p:txBody>
      </p:sp>
      <p:sp>
        <p:nvSpPr>
          <p:cNvPr id="16" name="TextBox 15"/>
          <p:cNvSpPr txBox="1"/>
          <p:nvPr/>
        </p:nvSpPr>
        <p:spPr>
          <a:xfrm>
            <a:off x="1051560" y="4572000"/>
            <a:ext cx="4800600" cy="868680"/>
          </a:xfrm>
          <a:prstGeom prst="rect">
            <a:avLst/>
          </a:prstGeom>
          <a:noFill/>
        </p:spPr>
        <p:txBody>
          <a:bodyPr wrap="square" lIns="0" tIns="0" rIns="0" bIns="0" anchor="t">
            <a:spAutoFit/>
          </a:bodyPr>
          <a:lstStyle/>
          <a:p>
            <a:pPr algn="l">
              <a:lnSpc>
                <a:spcPct val="115000"/>
              </a:lnSpc>
              <a:spcAft>
                <a:spcPts val="600"/>
              </a:spcAft>
            </a:pPr>
            <a:r>
              <a:rPr sz="1350" b="0" i="0">
                <a:solidFill>
                  <a:srgbClr val="5F6368"/>
                </a:solidFill>
                <a:latin typeface="Segoe UI"/>
              </a:rPr>
              <a:t>Put security language and controls into user stories.</a:t>
            </a:r>
          </a:p>
          <a:p>
            <a:pPr algn="l">
              <a:lnSpc>
                <a:spcPct val="115000"/>
              </a:lnSpc>
              <a:spcAft>
                <a:spcPts val="600"/>
              </a:spcAft>
            </a:pPr>
            <a:r>
              <a:rPr sz="1350" b="0" i="0">
                <a:solidFill>
                  <a:srgbClr val="5F6368"/>
                </a:solidFill>
                <a:latin typeface="Segoe UI"/>
              </a:rPr>
              <a:t>Write unit and integration tests with use cases and misuse cases per tier.</a:t>
            </a:r>
          </a:p>
        </p:txBody>
      </p:sp>
      <p:sp>
        <p:nvSpPr>
          <p:cNvPr id="17" name="Rounded Rectangle 16"/>
          <p:cNvSpPr/>
          <p:nvPr/>
        </p:nvSpPr>
        <p:spPr>
          <a:xfrm>
            <a:off x="6263640" y="3749039"/>
            <a:ext cx="5349240" cy="178308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3749039"/>
            <a:ext cx="5349240" cy="64008"/>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37959" y="4023359"/>
            <a:ext cx="4800600" cy="457200"/>
          </a:xfrm>
          <a:prstGeom prst="rect">
            <a:avLst/>
          </a:prstGeom>
          <a:noFill/>
        </p:spPr>
        <p:txBody>
          <a:bodyPr wrap="square" lIns="0" tIns="0" rIns="0" bIns="0" anchor="t">
            <a:spAutoFit/>
          </a:bodyPr>
          <a:lstStyle/>
          <a:p>
            <a:pPr algn="l">
              <a:lnSpc>
                <a:spcPct val="112000"/>
              </a:lnSpc>
              <a:spcAft>
                <a:spcPts val="0"/>
              </a:spcAft>
            </a:pPr>
            <a:r>
              <a:rPr sz="1700" b="1" i="0">
                <a:solidFill>
                  <a:srgbClr val="1F2328"/>
                </a:solidFill>
                <a:latin typeface="Segoe UI"/>
              </a:rPr>
              <a:t>Architecture</a:t>
            </a:r>
          </a:p>
        </p:txBody>
      </p:sp>
      <p:sp>
        <p:nvSpPr>
          <p:cNvPr id="20" name="TextBox 19"/>
          <p:cNvSpPr txBox="1"/>
          <p:nvPr/>
        </p:nvSpPr>
        <p:spPr>
          <a:xfrm>
            <a:off x="6537959" y="4572000"/>
            <a:ext cx="4800600" cy="868680"/>
          </a:xfrm>
          <a:prstGeom prst="rect">
            <a:avLst/>
          </a:prstGeom>
          <a:noFill/>
        </p:spPr>
        <p:txBody>
          <a:bodyPr wrap="square" lIns="0" tIns="0" rIns="0" bIns="0" anchor="t">
            <a:spAutoFit/>
          </a:bodyPr>
          <a:lstStyle/>
          <a:p>
            <a:pPr algn="l">
              <a:lnSpc>
                <a:spcPct val="115000"/>
              </a:lnSpc>
              <a:spcAft>
                <a:spcPts val="600"/>
              </a:spcAft>
            </a:pPr>
            <a:r>
              <a:rPr sz="1350" b="0" i="0">
                <a:solidFill>
                  <a:srgbClr val="5F6368"/>
                </a:solidFill>
                <a:latin typeface="Segoe UI"/>
              </a:rPr>
              <a:t>Plausibility checks at every tier, from frontend to backend.</a:t>
            </a:r>
          </a:p>
          <a:p>
            <a:pPr algn="l">
              <a:lnSpc>
                <a:spcPct val="115000"/>
              </a:lnSpc>
              <a:spcAft>
                <a:spcPts val="600"/>
              </a:spcAft>
            </a:pPr>
            <a:r>
              <a:rPr sz="1350" b="0" i="0">
                <a:solidFill>
                  <a:srgbClr val="5F6368"/>
                </a:solidFill>
                <a:latin typeface="Segoe UI"/>
              </a:rPr>
              <a:t>Segregate tiers and tenants by design.</a:t>
            </a:r>
          </a:p>
        </p:txBody>
      </p:sp>
      <p:sp>
        <p:nvSpPr>
          <p:cNvPr id="21" name="TextBox 20"/>
          <p:cNvSpPr txBox="1"/>
          <p:nvPr/>
        </p:nvSpPr>
        <p:spPr>
          <a:xfrm>
            <a:off x="777240" y="5852160"/>
            <a:ext cx="10835640" cy="365760"/>
          </a:xfrm>
          <a:prstGeom prst="rect">
            <a:avLst/>
          </a:prstGeom>
          <a:noFill/>
        </p:spPr>
        <p:txBody>
          <a:bodyPr wrap="square" lIns="0" tIns="0" rIns="0" bIns="0" anchor="t">
            <a:spAutoFit/>
          </a:bodyPr>
          <a:lstStyle/>
          <a:p>
            <a:pPr algn="l">
              <a:lnSpc>
                <a:spcPct val="112000"/>
              </a:lnSpc>
              <a:spcAft>
                <a:spcPts val="0"/>
              </a:spcAft>
            </a:pPr>
            <a:r>
              <a:rPr sz="1400" b="1" i="0">
                <a:solidFill>
                  <a:srgbClr val="1F2328"/>
                </a:solidFill>
                <a:latin typeface="Segoe UI"/>
              </a:rPr>
              <a:t>Resources: </a:t>
            </a:r>
            <a:r>
              <a:rPr sz="1400" b="0" i="0">
                <a:solidFill>
                  <a:srgbClr val="5F6368"/>
                </a:solidFill>
                <a:latin typeface="Segoe UI"/>
              </a:rPr>
              <a:t>OWASP SAMM (Design)  ·  OWASP Cheat Sheet: Secure Design Principles  ·  The Threat Modeling Manifesto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3"/>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64008" cy="91440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058400" cy="274320"/>
          </a:xfrm>
          <a:prstGeom prst="rect">
            <a:avLst/>
          </a:prstGeom>
          <a:noFill/>
        </p:spPr>
        <p:txBody>
          <a:bodyPr wrap="square" lIns="0" tIns="0" rIns="0" bIns="0" anchor="t">
            <a:spAutoFit/>
          </a:bodyPr>
          <a:lstStyle/>
          <a:p>
            <a:pPr algn="l">
              <a:lnSpc>
                <a:spcPct val="112000"/>
              </a:lnSpc>
              <a:spcAft>
                <a:spcPts val="0"/>
              </a:spcAft>
            </a:pPr>
            <a:r>
              <a:rPr sz="1200" b="1" i="0">
                <a:solidFill>
                  <a:srgbClr val="2B5C99"/>
                </a:solidFill>
                <a:latin typeface="Segoe UI"/>
              </a:rPr>
              <a:t>TAKEAWAYS</a:t>
            </a:r>
          </a:p>
        </p:txBody>
      </p:sp>
      <p:sp>
        <p:nvSpPr>
          <p:cNvPr id="4" name="TextBox 3"/>
          <p:cNvSpPr txBox="1"/>
          <p:nvPr/>
        </p:nvSpPr>
        <p:spPr>
          <a:xfrm>
            <a:off x="777240" y="777240"/>
            <a:ext cx="10789920" cy="731520"/>
          </a:xfrm>
          <a:prstGeom prst="rect">
            <a:avLst/>
          </a:prstGeom>
          <a:noFill/>
        </p:spPr>
        <p:txBody>
          <a:bodyPr wrap="square" lIns="0" tIns="0" rIns="0" bIns="0" anchor="t">
            <a:spAutoFit/>
          </a:bodyPr>
          <a:lstStyle/>
          <a:p>
            <a:pPr algn="l">
              <a:lnSpc>
                <a:spcPct val="112000"/>
              </a:lnSpc>
              <a:spcAft>
                <a:spcPts val="0"/>
              </a:spcAft>
            </a:pPr>
            <a:r>
              <a:rPr sz="3400" b="1" i="0">
                <a:solidFill>
                  <a:srgbClr val="1F2328"/>
                </a:solidFill>
                <a:latin typeface="Segoe UI"/>
              </a:rPr>
              <a:t>Conclusion</a:t>
            </a:r>
          </a:p>
        </p:txBody>
      </p:sp>
      <p:sp>
        <p:nvSpPr>
          <p:cNvPr id="5" name="Rounded Rectangle 4"/>
          <p:cNvSpPr/>
          <p:nvPr/>
        </p:nvSpPr>
        <p:spPr>
          <a:xfrm>
            <a:off x="777240" y="1828800"/>
            <a:ext cx="6949440" cy="118872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828800"/>
            <a:ext cx="64008" cy="118872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993392"/>
            <a:ext cx="6400800" cy="365760"/>
          </a:xfrm>
          <a:prstGeom prst="rect">
            <a:avLst/>
          </a:prstGeom>
          <a:noFill/>
        </p:spPr>
        <p:txBody>
          <a:bodyPr wrap="square" lIns="0" tIns="0" rIns="0" bIns="0" anchor="t">
            <a:spAutoFit/>
          </a:bodyPr>
          <a:lstStyle/>
          <a:p>
            <a:pPr algn="l">
              <a:lnSpc>
                <a:spcPct val="112000"/>
              </a:lnSpc>
              <a:spcAft>
                <a:spcPts val="0"/>
              </a:spcAft>
            </a:pPr>
            <a:r>
              <a:rPr sz="1900" b="1" i="0">
                <a:solidFill>
                  <a:srgbClr val="1F2328"/>
                </a:solidFill>
                <a:latin typeface="Segoe UI"/>
              </a:rPr>
              <a:t>Design comes first</a:t>
            </a:r>
          </a:p>
        </p:txBody>
      </p:sp>
      <p:sp>
        <p:nvSpPr>
          <p:cNvPr id="8" name="TextBox 7"/>
          <p:cNvSpPr txBox="1"/>
          <p:nvPr/>
        </p:nvSpPr>
        <p:spPr>
          <a:xfrm>
            <a:off x="1097280" y="2423160"/>
            <a:ext cx="6400800" cy="548640"/>
          </a:xfrm>
          <a:prstGeom prst="rect">
            <a:avLst/>
          </a:prstGeom>
          <a:noFill/>
        </p:spPr>
        <p:txBody>
          <a:bodyPr wrap="square" lIns="0" tIns="0" rIns="0" bIns="0" anchor="t">
            <a:spAutoFit/>
          </a:bodyPr>
          <a:lstStyle/>
          <a:p>
            <a:pPr algn="l">
              <a:lnSpc>
                <a:spcPct val="112000"/>
              </a:lnSpc>
              <a:spcAft>
                <a:spcPts val="0"/>
              </a:spcAft>
            </a:pPr>
            <a:r>
              <a:rPr sz="1450" b="0" i="0">
                <a:solidFill>
                  <a:srgbClr val="5F6368"/>
                </a:solidFill>
                <a:latin typeface="Segoe UI"/>
              </a:rPr>
              <a:t>Security starts at requirements and design, before the first line of code.</a:t>
            </a:r>
          </a:p>
        </p:txBody>
      </p:sp>
      <p:sp>
        <p:nvSpPr>
          <p:cNvPr id="9" name="Rounded Rectangle 8"/>
          <p:cNvSpPr/>
          <p:nvPr/>
        </p:nvSpPr>
        <p:spPr>
          <a:xfrm>
            <a:off x="777240" y="3200400"/>
            <a:ext cx="6949440" cy="118872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3200400"/>
            <a:ext cx="64008" cy="118872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364992"/>
            <a:ext cx="6400800" cy="365760"/>
          </a:xfrm>
          <a:prstGeom prst="rect">
            <a:avLst/>
          </a:prstGeom>
          <a:noFill/>
        </p:spPr>
        <p:txBody>
          <a:bodyPr wrap="square" lIns="0" tIns="0" rIns="0" bIns="0" anchor="t">
            <a:spAutoFit/>
          </a:bodyPr>
          <a:lstStyle/>
          <a:p>
            <a:pPr algn="l">
              <a:lnSpc>
                <a:spcPct val="112000"/>
              </a:lnSpc>
              <a:spcAft>
                <a:spcPts val="0"/>
              </a:spcAft>
            </a:pPr>
            <a:r>
              <a:rPr sz="1900" b="1" i="0">
                <a:solidFill>
                  <a:srgbClr val="1F2328"/>
                </a:solidFill>
                <a:latin typeface="Segoe UI"/>
              </a:rPr>
              <a:t>Code cannot fix a missing control</a:t>
            </a:r>
          </a:p>
        </p:txBody>
      </p:sp>
      <p:sp>
        <p:nvSpPr>
          <p:cNvPr id="12" name="TextBox 11"/>
          <p:cNvSpPr txBox="1"/>
          <p:nvPr/>
        </p:nvSpPr>
        <p:spPr>
          <a:xfrm>
            <a:off x="1097280" y="3794760"/>
            <a:ext cx="6400800" cy="548640"/>
          </a:xfrm>
          <a:prstGeom prst="rect">
            <a:avLst/>
          </a:prstGeom>
          <a:noFill/>
        </p:spPr>
        <p:txBody>
          <a:bodyPr wrap="square" lIns="0" tIns="0" rIns="0" bIns="0" anchor="t">
            <a:spAutoFit/>
          </a:bodyPr>
          <a:lstStyle/>
          <a:p>
            <a:pPr algn="l">
              <a:lnSpc>
                <a:spcPct val="112000"/>
              </a:lnSpc>
              <a:spcAft>
                <a:spcPts val="0"/>
              </a:spcAft>
            </a:pPr>
            <a:r>
              <a:rPr sz="1450" b="0" i="0">
                <a:solidFill>
                  <a:srgbClr val="5F6368"/>
                </a:solidFill>
                <a:latin typeface="Segoe UI"/>
              </a:rPr>
              <a:t>Insecure design and insecure implementation have different causes and different fixes.</a:t>
            </a:r>
          </a:p>
        </p:txBody>
      </p:sp>
      <p:sp>
        <p:nvSpPr>
          <p:cNvPr id="13" name="Rounded Rectangle 12"/>
          <p:cNvSpPr/>
          <p:nvPr/>
        </p:nvSpPr>
        <p:spPr>
          <a:xfrm>
            <a:off x="777240" y="4572000"/>
            <a:ext cx="6949440" cy="1188720"/>
          </a:xfrm>
          <a:prstGeom prst="roundRect">
            <a:avLst>
              <a:gd name="adj" fmla="val 6000"/>
            </a:avLst>
          </a:prstGeom>
          <a:solidFill>
            <a:srgbClr val="FFFFFF"/>
          </a:solidFill>
          <a:ln w="12700">
            <a:solidFill>
              <a:srgbClr val="E0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4572000"/>
            <a:ext cx="64008" cy="1188720"/>
          </a:xfrm>
          <a:prstGeom prst="rect">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736592"/>
            <a:ext cx="6400800" cy="365760"/>
          </a:xfrm>
          <a:prstGeom prst="rect">
            <a:avLst/>
          </a:prstGeom>
          <a:noFill/>
        </p:spPr>
        <p:txBody>
          <a:bodyPr wrap="square" lIns="0" tIns="0" rIns="0" bIns="0" anchor="t">
            <a:spAutoFit/>
          </a:bodyPr>
          <a:lstStyle/>
          <a:p>
            <a:pPr algn="l">
              <a:lnSpc>
                <a:spcPct val="112000"/>
              </a:lnSpc>
              <a:spcAft>
                <a:spcPts val="0"/>
              </a:spcAft>
            </a:pPr>
            <a:r>
              <a:rPr sz="1900" b="1" i="0">
                <a:solidFill>
                  <a:srgbClr val="1F2328"/>
                </a:solidFill>
                <a:latin typeface="Segoe UI"/>
              </a:rPr>
              <a:t>Threat model, then test</a:t>
            </a:r>
          </a:p>
        </p:txBody>
      </p:sp>
      <p:sp>
        <p:nvSpPr>
          <p:cNvPr id="16" name="TextBox 15"/>
          <p:cNvSpPr txBox="1"/>
          <p:nvPr/>
        </p:nvSpPr>
        <p:spPr>
          <a:xfrm>
            <a:off x="1097280" y="5166360"/>
            <a:ext cx="6400800" cy="548640"/>
          </a:xfrm>
          <a:prstGeom prst="rect">
            <a:avLst/>
          </a:prstGeom>
          <a:noFill/>
        </p:spPr>
        <p:txBody>
          <a:bodyPr wrap="square" lIns="0" tIns="0" rIns="0" bIns="0" anchor="t">
            <a:spAutoFit/>
          </a:bodyPr>
          <a:lstStyle/>
          <a:p>
            <a:pPr algn="l">
              <a:lnSpc>
                <a:spcPct val="112000"/>
              </a:lnSpc>
              <a:spcAft>
                <a:spcPts val="0"/>
              </a:spcAft>
            </a:pPr>
            <a:r>
              <a:rPr sz="1450" b="0" i="0">
                <a:solidFill>
                  <a:srgbClr val="5F6368"/>
                </a:solidFill>
                <a:latin typeface="Segoe UI"/>
              </a:rPr>
              <a:t>Model abuse of key flows, write the rules down, and test them with misuse cases.</a:t>
            </a:r>
          </a:p>
        </p:txBody>
      </p:sp>
      <p:sp>
        <p:nvSpPr>
          <p:cNvPr id="17" name="Rounded Rectangle 16"/>
          <p:cNvSpPr/>
          <p:nvPr/>
        </p:nvSpPr>
        <p:spPr>
          <a:xfrm>
            <a:off x="8503920" y="2103120"/>
            <a:ext cx="2926080" cy="1828800"/>
          </a:xfrm>
          <a:prstGeom prst="roundRect">
            <a:avLst>
              <a:gd name="adj" fmla="val 15000"/>
            </a:avLst>
          </a:prstGeom>
          <a:solidFill>
            <a:srgbClr val="2B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0" y="2103120"/>
            <a:ext cx="2926080" cy="1828800"/>
          </a:xfrm>
          <a:prstGeom prst="rect">
            <a:avLst/>
          </a:prstGeom>
          <a:noFill/>
        </p:spPr>
        <p:txBody>
          <a:bodyPr wrap="square" lIns="0" tIns="0" rIns="0" bIns="0" anchor="ctr">
            <a:spAutoFit/>
          </a:bodyPr>
          <a:lstStyle/>
          <a:p>
            <a:pPr algn="ctr">
              <a:lnSpc>
                <a:spcPct val="112000"/>
              </a:lnSpc>
              <a:spcAft>
                <a:spcPts val="0"/>
              </a:spcAft>
            </a:pPr>
            <a:r>
              <a:rPr sz="4800" b="1" i="0">
                <a:solidFill>
                  <a:srgbClr val="FFFFFF"/>
                </a:solidFill>
                <a:latin typeface="Segoe UI"/>
              </a:rPr>
              <a:t>Q&amp;A</a:t>
            </a:r>
          </a:p>
        </p:txBody>
      </p:sp>
      <p:sp>
        <p:nvSpPr>
          <p:cNvPr id="19" name="TextBox 18"/>
          <p:cNvSpPr txBox="1"/>
          <p:nvPr/>
        </p:nvSpPr>
        <p:spPr>
          <a:xfrm>
            <a:off x="8503920" y="4114800"/>
            <a:ext cx="2926080" cy="731520"/>
          </a:xfrm>
          <a:prstGeom prst="rect">
            <a:avLst/>
          </a:prstGeom>
          <a:noFill/>
        </p:spPr>
        <p:txBody>
          <a:bodyPr wrap="square" lIns="0" tIns="0" rIns="0" bIns="0" anchor="t">
            <a:spAutoFit/>
          </a:bodyPr>
          <a:lstStyle/>
          <a:p>
            <a:pPr algn="ctr">
              <a:lnSpc>
                <a:spcPct val="112000"/>
              </a:lnSpc>
              <a:spcAft>
                <a:spcPts val="0"/>
              </a:spcAft>
            </a:pPr>
            <a:r>
              <a:rPr sz="1800" b="0" i="0">
                <a:solidFill>
                  <a:srgbClr val="5F6368"/>
                </a:solidFill>
                <a:latin typeface="Segoe U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1671</Words>
  <Application>Microsoft Office PowerPoint</Application>
  <PresentationFormat>Panorámica</PresentationFormat>
  <Paragraphs>131</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Consolas</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Santiago Rodriguez Ángel</cp:lastModifiedBy>
  <cp:revision>3</cp:revision>
  <dcterms:created xsi:type="dcterms:W3CDTF">2013-01-27T09:14:16Z</dcterms:created>
  <dcterms:modified xsi:type="dcterms:W3CDTF">2026-10-17T02:33:04Z</dcterms:modified>
  <cp:category/>
</cp:coreProperties>
</file>